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9"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7" r:id="rId11"/>
    <p:sldId id="268" r:id="rId12"/>
    <p:sldId id="266" r:id="rId13"/>
    <p:sldId id="265" r:id="rId14"/>
  </p:sldIdLst>
  <p:sldSz cx="12192000" cy="6858000"/>
  <p:notesSz cx="6858000" cy="12192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ACFCA41-7221-4674-B144-DCA2F1B7582E}">
  <a:tblStyle styleId="{DACFCA41-7221-4674-B144-DCA2F1B7582E}"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2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
        <p:cNvGrpSpPr/>
        <p:nvPr/>
      </p:nvGrpSpPr>
      <p:grpSpPr>
        <a:xfrm>
          <a:off x="0" y="0"/>
          <a:ext cx="0" cy="0"/>
          <a:chOff x="0" y="0"/>
          <a:chExt cx="0" cy="0"/>
        </a:xfrm>
      </p:grpSpPr>
      <p:sp>
        <p:nvSpPr>
          <p:cNvPr id="12" name="Google Shape;1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 name="Google Shape;1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 name="Google Shape;14;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 name="Google Shape;34;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 name="Google Shape;6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 name="Google Shape;68;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 name="Google Shape;82;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 name="Google Shape;83;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 name="Google Shape;107;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0" name="Google Shape;120;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1" name="Google Shape;121;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4" name="Google Shape;134;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5" name="Google Shape;135;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9" name="Google Shape;149;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0" name="Google Shape;150;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8" name="Google Shape;178;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9" name="Google Shape;179;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3" name="Google Shape;193;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4" name="Google Shape;194;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8"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1295C"/>
        </a:solidFill>
        <a:effectLst/>
      </p:bgPr>
    </p:bg>
    <p:spTree>
      <p:nvGrpSpPr>
        <p:cNvPr id="1" name="Shape 15"/>
        <p:cNvGrpSpPr/>
        <p:nvPr/>
      </p:nvGrpSpPr>
      <p:grpSpPr>
        <a:xfrm>
          <a:off x="0" y="0"/>
          <a:ext cx="0" cy="0"/>
          <a:chOff x="0" y="0"/>
          <a:chExt cx="0" cy="0"/>
        </a:xfrm>
      </p:grpSpPr>
      <p:sp>
        <p:nvSpPr>
          <p:cNvPr id="16" name="Google Shape;16;p3"/>
          <p:cNvSpPr/>
          <p:nvPr/>
        </p:nvSpPr>
        <p:spPr>
          <a:xfrm>
            <a:off x="10424160" y="-1463040"/>
            <a:ext cx="3108960" cy="3108960"/>
          </a:xfrm>
          <a:prstGeom prst="ellipse">
            <a:avLst/>
          </a:prstGeom>
          <a:solidFill>
            <a:srgbClr val="1C7293">
              <a:alpha val="1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 name="Google Shape;17;p3"/>
          <p:cNvSpPr/>
          <p:nvPr/>
        </p:nvSpPr>
        <p:spPr>
          <a:xfrm>
            <a:off x="-1097280" y="5669280"/>
            <a:ext cx="2194560" cy="2194560"/>
          </a:xfrm>
          <a:prstGeom prst="ellipse">
            <a:avLst/>
          </a:prstGeom>
          <a:solidFill>
            <a:srgbClr val="CFE3EE">
              <a:alpha val="1019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 name="Google Shape;18;p3"/>
          <p:cNvSpPr/>
          <p:nvPr/>
        </p:nvSpPr>
        <p:spPr>
          <a:xfrm>
            <a:off x="914400" y="1691640"/>
            <a:ext cx="10360152" cy="36576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600"/>
              <a:buFont typeface="Calibri"/>
              <a:buNone/>
            </a:pPr>
            <a:r>
              <a:rPr lang="en-US" sz="2700" b="1" i="0" u="none" strike="noStrike" cap="none">
                <a:solidFill>
                  <a:srgbClr val="FFFFFF"/>
                </a:solidFill>
                <a:latin typeface="Calibri"/>
                <a:ea typeface="Calibri"/>
                <a:cs typeface="Calibri"/>
                <a:sym typeface="Calibri"/>
              </a:rPr>
              <a:t>LLOYD INSTITUTE OF ENGINEERING &amp; TECHNOLOGY</a:t>
            </a:r>
            <a:endParaRPr sz="2700" b="0" i="0" u="none" strike="noStrike" cap="none">
              <a:solidFill>
                <a:schemeClr val="dk1"/>
              </a:solidFill>
              <a:latin typeface="Calibri"/>
              <a:ea typeface="Calibri"/>
              <a:cs typeface="Calibri"/>
              <a:sym typeface="Calibri"/>
            </a:endParaRPr>
          </a:p>
        </p:txBody>
      </p:sp>
      <p:sp>
        <p:nvSpPr>
          <p:cNvPr id="19" name="Google Shape;19;p3"/>
          <p:cNvSpPr/>
          <p:nvPr/>
        </p:nvSpPr>
        <p:spPr>
          <a:xfrm>
            <a:off x="914400" y="2114821"/>
            <a:ext cx="10360200" cy="2742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CFE3EE"/>
              </a:buClr>
              <a:buSzPts val="1250"/>
              <a:buFont typeface="Calibri"/>
              <a:buNone/>
            </a:pPr>
            <a:r>
              <a:rPr lang="en-US" sz="1650" b="0" i="0" u="none" strike="noStrike" cap="none">
                <a:solidFill>
                  <a:srgbClr val="CFE3EE"/>
                </a:solidFill>
                <a:latin typeface="Calibri"/>
                <a:ea typeface="Calibri"/>
                <a:cs typeface="Calibri"/>
                <a:sym typeface="Calibri"/>
              </a:rPr>
              <a:t>Greater Noida  |  Department of Computer Science &amp; Engineering</a:t>
            </a:r>
            <a:endParaRPr sz="1650" b="0" i="0" u="none" strike="noStrike" cap="none">
              <a:solidFill>
                <a:schemeClr val="dk1"/>
              </a:solidFill>
              <a:latin typeface="Calibri"/>
              <a:ea typeface="Calibri"/>
              <a:cs typeface="Calibri"/>
              <a:sym typeface="Calibri"/>
            </a:endParaRPr>
          </a:p>
        </p:txBody>
      </p:sp>
      <p:sp>
        <p:nvSpPr>
          <p:cNvPr id="20" name="Google Shape;20;p3"/>
          <p:cNvSpPr/>
          <p:nvPr/>
        </p:nvSpPr>
        <p:spPr>
          <a:xfrm>
            <a:off x="914400" y="2715775"/>
            <a:ext cx="10360200" cy="3201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6FB6CE"/>
              </a:buClr>
              <a:buSzPts val="1200"/>
              <a:buFont typeface="Calibri"/>
              <a:buNone/>
            </a:pPr>
            <a:r>
              <a:rPr lang="en-US" sz="2000" b="1" i="0" u="none" strike="noStrike" cap="none">
                <a:solidFill>
                  <a:srgbClr val="6FB6CE"/>
                </a:solidFill>
                <a:latin typeface="Calibri"/>
                <a:ea typeface="Calibri"/>
                <a:cs typeface="Calibri"/>
                <a:sym typeface="Calibri"/>
              </a:rPr>
              <a:t>B.TECH </a:t>
            </a:r>
            <a:r>
              <a:rPr lang="en-US" sz="2000" b="1">
                <a:solidFill>
                  <a:srgbClr val="6FB6CE"/>
                </a:solidFill>
                <a:latin typeface="Calibri"/>
                <a:ea typeface="Calibri"/>
                <a:cs typeface="Calibri"/>
                <a:sym typeface="Calibri"/>
              </a:rPr>
              <a:t>SECOND</a:t>
            </a:r>
            <a:r>
              <a:rPr lang="en-US" sz="2000" b="1" i="0" u="none" strike="noStrike" cap="none">
                <a:solidFill>
                  <a:srgbClr val="6FB6CE"/>
                </a:solidFill>
                <a:latin typeface="Calibri"/>
                <a:ea typeface="Calibri"/>
                <a:cs typeface="Calibri"/>
                <a:sym typeface="Calibri"/>
              </a:rPr>
              <a:t> YEAR M</a:t>
            </a:r>
            <a:r>
              <a:rPr lang="en-US" sz="2000" b="1">
                <a:solidFill>
                  <a:srgbClr val="6FB6CE"/>
                </a:solidFill>
                <a:latin typeface="Calibri"/>
                <a:ea typeface="Calibri"/>
                <a:cs typeface="Calibri"/>
                <a:sym typeface="Calibri"/>
              </a:rPr>
              <a:t>INI</a:t>
            </a:r>
            <a:r>
              <a:rPr lang="en-US" sz="2000" b="1" i="0" u="none" strike="noStrike" cap="none">
                <a:solidFill>
                  <a:srgbClr val="6FB6CE"/>
                </a:solidFill>
                <a:latin typeface="Calibri"/>
                <a:ea typeface="Calibri"/>
                <a:cs typeface="Calibri"/>
                <a:sym typeface="Calibri"/>
              </a:rPr>
              <a:t> PROJECT  ·  BC</a:t>
            </a:r>
            <a:r>
              <a:rPr lang="en-US" sz="2000" b="1">
                <a:solidFill>
                  <a:srgbClr val="6FB6CE"/>
                </a:solidFill>
                <a:latin typeface="Calibri"/>
                <a:ea typeface="Calibri"/>
                <a:cs typeface="Calibri"/>
                <a:sym typeface="Calibri"/>
              </a:rPr>
              <a:t>C351</a:t>
            </a:r>
            <a:endParaRPr sz="2000" b="0" i="0" u="none" strike="noStrike" cap="none">
              <a:solidFill>
                <a:schemeClr val="dk1"/>
              </a:solidFill>
              <a:latin typeface="Calibri"/>
              <a:ea typeface="Calibri"/>
              <a:cs typeface="Calibri"/>
              <a:sym typeface="Calibri"/>
            </a:endParaRPr>
          </a:p>
        </p:txBody>
      </p:sp>
      <p:sp>
        <p:nvSpPr>
          <p:cNvPr id="21" name="Google Shape;21;p3"/>
          <p:cNvSpPr/>
          <p:nvPr/>
        </p:nvSpPr>
        <p:spPr>
          <a:xfrm>
            <a:off x="1280160" y="3200400"/>
            <a:ext cx="9628632" cy="1371600"/>
          </a:xfrm>
          <a:prstGeom prst="roundRect">
            <a:avLst>
              <a:gd name="adj" fmla="val 8000"/>
            </a:avLst>
          </a:prstGeom>
          <a:solidFill>
            <a:srgbClr val="FFFFFF">
              <a:alpha val="588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 name="Google Shape;22;p3"/>
          <p:cNvSpPr/>
          <p:nvPr/>
        </p:nvSpPr>
        <p:spPr>
          <a:xfrm>
            <a:off x="1463040" y="3200400"/>
            <a:ext cx="9262872" cy="1371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3200"/>
              <a:buFont typeface="Cambria"/>
              <a:buNone/>
            </a:pPr>
            <a:r>
              <a:rPr sz="2900" b="1" dirty="0">
                <a:solidFill>
                  <a:schemeClr val="tx2"/>
                </a:solidFill>
              </a:rPr>
              <a:t>IPL MATCH &amp; PLAYER
DATA ANALYTICS</a:t>
            </a:r>
            <a:endParaRPr sz="3000" b="0" i="0" u="none" strike="noStrike" cap="none" dirty="0">
              <a:solidFill>
                <a:schemeClr val="tx2"/>
              </a:solidFill>
              <a:latin typeface="Calibri"/>
              <a:ea typeface="Calibri"/>
              <a:cs typeface="Calibri"/>
              <a:sym typeface="Calibri"/>
            </a:endParaRPr>
          </a:p>
        </p:txBody>
      </p:sp>
      <p:sp>
        <p:nvSpPr>
          <p:cNvPr id="23" name="Google Shape;23;p3"/>
          <p:cNvSpPr/>
          <p:nvPr/>
        </p:nvSpPr>
        <p:spPr>
          <a:xfrm>
            <a:off x="914400" y="4709160"/>
            <a:ext cx="10360152" cy="32004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CFE3EE"/>
              </a:buClr>
              <a:buSzPts val="1300"/>
              <a:buFont typeface="Calibri"/>
              <a:buNone/>
            </a:pPr>
            <a:r>
              <a:rPr sz="1500" dirty="0">
                <a:solidFill>
                  <a:schemeClr val="tx2"/>
                </a:solidFill>
              </a:rPr>
              <a:t>Project Presentation – I   |   Session 2026–27</a:t>
            </a:r>
            <a:endParaRPr sz="1500" b="0" i="0" u="none" strike="noStrike" cap="none" dirty="0">
              <a:solidFill>
                <a:schemeClr val="tx2"/>
              </a:solidFill>
              <a:latin typeface="Calibri"/>
              <a:ea typeface="Calibri"/>
              <a:cs typeface="Calibri"/>
              <a:sym typeface="Calibri"/>
            </a:endParaRPr>
          </a:p>
        </p:txBody>
      </p:sp>
      <p:cxnSp>
        <p:nvCxnSpPr>
          <p:cNvPr id="24" name="Google Shape;24;p3"/>
          <p:cNvCxnSpPr/>
          <p:nvPr/>
        </p:nvCxnSpPr>
        <p:spPr>
          <a:xfrm>
            <a:off x="6094476" y="5257800"/>
            <a:ext cx="0" cy="1188720"/>
          </a:xfrm>
          <a:prstGeom prst="straightConnector1">
            <a:avLst/>
          </a:prstGeom>
          <a:noFill/>
          <a:ln w="9525" cap="flat" cmpd="sng">
            <a:solidFill>
              <a:srgbClr val="FFFFFF">
                <a:alpha val="30196"/>
              </a:srgbClr>
            </a:solidFill>
            <a:prstDash val="solid"/>
            <a:round/>
            <a:headEnd type="none" w="sm" len="sm"/>
            <a:tailEnd type="none" w="sm" len="sm"/>
          </a:ln>
        </p:spPr>
      </p:cxnSp>
      <p:sp>
        <p:nvSpPr>
          <p:cNvPr id="25" name="Google Shape;25;p3"/>
          <p:cNvSpPr/>
          <p:nvPr/>
        </p:nvSpPr>
        <p:spPr>
          <a:xfrm>
            <a:off x="914400" y="5303520"/>
            <a:ext cx="4114800" cy="27432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6FB6CE"/>
              </a:buClr>
              <a:buSzPts val="1050"/>
              <a:buFont typeface="Calibri"/>
              <a:buNone/>
            </a:pPr>
            <a:r>
              <a:rPr lang="en-US" sz="1150" b="1" i="0" u="none" strike="noStrike" cap="none">
                <a:solidFill>
                  <a:srgbClr val="6FB6CE"/>
                </a:solidFill>
                <a:latin typeface="Calibri"/>
                <a:ea typeface="Calibri"/>
                <a:cs typeface="Calibri"/>
                <a:sym typeface="Calibri"/>
              </a:rPr>
              <a:t>GUIDE NAME</a:t>
            </a:r>
            <a:endParaRPr sz="1250" b="0" i="0" u="none" strike="noStrike" cap="none">
              <a:solidFill>
                <a:schemeClr val="dk1"/>
              </a:solidFill>
              <a:latin typeface="Calibri"/>
              <a:ea typeface="Calibri"/>
              <a:cs typeface="Calibri"/>
              <a:sym typeface="Calibri"/>
            </a:endParaRPr>
          </a:p>
        </p:txBody>
      </p:sp>
      <p:sp>
        <p:nvSpPr>
          <p:cNvPr id="26" name="Google Shape;26;p3"/>
          <p:cNvSpPr/>
          <p:nvPr/>
        </p:nvSpPr>
        <p:spPr>
          <a:xfrm>
            <a:off x="914400" y="5577840"/>
            <a:ext cx="4480560" cy="36576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FFFFFF"/>
              </a:buClr>
              <a:buSzPts val="1500"/>
              <a:buFont typeface="Calibri"/>
              <a:buNone/>
            </a:pPr>
            <a:r>
              <a:rPr sz="1400" b="1" dirty="0">
                <a:solidFill>
                  <a:schemeClr val="tx2"/>
                </a:solidFill>
              </a:rPr>
              <a:t>Ms. Ashi Gautam</a:t>
            </a:r>
            <a:endParaRPr sz="1400" b="0" i="0" u="none" strike="noStrike" cap="none" dirty="0">
              <a:solidFill>
                <a:schemeClr val="tx2"/>
              </a:solidFill>
              <a:latin typeface="Calibri"/>
              <a:ea typeface="Calibri"/>
              <a:cs typeface="Calibri"/>
              <a:sym typeface="Calibri"/>
            </a:endParaRPr>
          </a:p>
        </p:txBody>
      </p:sp>
      <p:sp>
        <p:nvSpPr>
          <p:cNvPr id="27" name="Google Shape;27;p3"/>
          <p:cNvSpPr/>
          <p:nvPr/>
        </p:nvSpPr>
        <p:spPr>
          <a:xfrm>
            <a:off x="914400" y="5989320"/>
            <a:ext cx="4480560" cy="32004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CFE3EE"/>
              </a:buClr>
              <a:buSzPts val="1100"/>
              <a:buFont typeface="Calibri"/>
              <a:buNone/>
            </a:pPr>
            <a:r>
              <a:rPr sz="1150" dirty="0">
                <a:solidFill>
                  <a:schemeClr val="tx2"/>
                </a:solidFill>
              </a:rPr>
              <a:t>Department of Computer Science &amp; Engineering</a:t>
            </a:r>
            <a:endParaRPr sz="1200" b="0" i="0" u="none" strike="noStrike" cap="none" dirty="0">
              <a:solidFill>
                <a:schemeClr val="tx2"/>
              </a:solidFill>
              <a:latin typeface="Calibri"/>
              <a:ea typeface="Calibri"/>
              <a:cs typeface="Calibri"/>
              <a:sym typeface="Calibri"/>
            </a:endParaRPr>
          </a:p>
        </p:txBody>
      </p:sp>
      <p:sp>
        <p:nvSpPr>
          <p:cNvPr id="28" name="Google Shape;28;p3"/>
          <p:cNvSpPr/>
          <p:nvPr/>
        </p:nvSpPr>
        <p:spPr>
          <a:xfrm>
            <a:off x="7316451" y="5303525"/>
            <a:ext cx="4022100" cy="274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6FB6CE"/>
              </a:buClr>
              <a:buSzPts val="1050"/>
              <a:buFont typeface="Calibri"/>
              <a:buNone/>
            </a:pPr>
            <a:r>
              <a:rPr lang="en-US" sz="1250" b="1">
                <a:solidFill>
                  <a:srgbClr val="6FB6CE"/>
                </a:solidFill>
                <a:latin typeface="Calibri"/>
                <a:ea typeface="Calibri"/>
                <a:cs typeface="Calibri"/>
                <a:sym typeface="Calibri"/>
              </a:rPr>
              <a:t>   </a:t>
            </a:r>
            <a:r>
              <a:rPr lang="en-US" sz="1250" b="1" i="0" u="none" strike="noStrike" cap="none">
                <a:solidFill>
                  <a:srgbClr val="6FB6CE"/>
                </a:solidFill>
                <a:latin typeface="Calibri"/>
                <a:ea typeface="Calibri"/>
                <a:cs typeface="Calibri"/>
                <a:sym typeface="Calibri"/>
              </a:rPr>
              <a:t>SUBMITTED BY</a:t>
            </a:r>
            <a:endParaRPr sz="1250" b="0" i="0" u="none" strike="noStrike" cap="none">
              <a:solidFill>
                <a:schemeClr val="dk1"/>
              </a:solidFill>
              <a:latin typeface="Calibri"/>
              <a:ea typeface="Calibri"/>
              <a:cs typeface="Calibri"/>
              <a:sym typeface="Calibri"/>
            </a:endParaRPr>
          </a:p>
        </p:txBody>
      </p:sp>
      <p:sp>
        <p:nvSpPr>
          <p:cNvPr id="29" name="Google Shape;29;p3"/>
          <p:cNvSpPr/>
          <p:nvPr/>
        </p:nvSpPr>
        <p:spPr>
          <a:xfrm>
            <a:off x="7316451" y="5577850"/>
            <a:ext cx="4022100" cy="1005900"/>
          </a:xfrm>
          <a:prstGeom prst="rect">
            <a:avLst/>
          </a:prstGeom>
          <a:noFill/>
          <a:ln>
            <a:noFill/>
          </a:ln>
        </p:spPr>
        <p:txBody>
          <a:bodyPr spcFirstLastPara="1" wrap="square" lIns="91425" tIns="45700" rIns="91425" bIns="45700" anchor="ctr" anchorCtr="0">
            <a:noAutofit/>
          </a:bodyPr>
          <a:lstStyle/>
          <a:p>
            <a:pPr marL="0" marR="0" lvl="0" indent="0" algn="l" rtl="0">
              <a:lnSpc>
                <a:spcPct val="135000"/>
              </a:lnSpc>
              <a:spcBef>
                <a:spcPts val="0"/>
              </a:spcBef>
              <a:spcAft>
                <a:spcPts val="0"/>
              </a:spcAft>
              <a:buClr>
                <a:srgbClr val="FFFFFF"/>
              </a:buClr>
              <a:buSzPts val="1150"/>
              <a:buFont typeface="Calibri"/>
              <a:buNone/>
            </a:pPr>
            <a:r>
              <a:rPr sz="1250" b="1" dirty="0">
                <a:solidFill>
                  <a:schemeClr val="tx2"/>
                </a:solidFill>
              </a:rPr>
              <a:t>Sumit Kumar Jha
Roll No. 2301530100144    |    Sec B</a:t>
            </a:r>
            <a:endParaRPr sz="1250" b="1" i="0" u="none" strike="noStrike" cap="none" dirty="0">
              <a:solidFill>
                <a:schemeClr val="tx2"/>
              </a:solidFill>
              <a:latin typeface="Calibri"/>
              <a:ea typeface="Calibri"/>
              <a:cs typeface="Calibri"/>
              <a:sym typeface="Calibri"/>
            </a:endParaRPr>
          </a:p>
        </p:txBody>
      </p:sp>
      <p:pic>
        <p:nvPicPr>
          <p:cNvPr id="30" name="Google Shape;30;p3" title="LLOYD-logo.png"/>
          <p:cNvPicPr preferRelativeResize="0"/>
          <p:nvPr/>
        </p:nvPicPr>
        <p:blipFill rotWithShape="1">
          <a:blip r:embed="rId3">
            <a:alphaModFix/>
          </a:blip>
          <a:srcRect/>
          <a:stretch/>
        </p:blipFill>
        <p:spPr>
          <a:xfrm>
            <a:off x="5591563" y="424800"/>
            <a:ext cx="1005835" cy="9986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Shape 35"/>
        <p:cNvGrpSpPr/>
        <p:nvPr/>
      </p:nvGrpSpPr>
      <p:grpSpPr>
        <a:xfrm>
          <a:off x="0" y="0"/>
          <a:ext cx="0" cy="0"/>
          <a:chOff x="0" y="0"/>
          <a:chExt cx="0" cy="0"/>
        </a:xfrm>
      </p:grpSpPr>
      <p:sp>
        <p:nvSpPr>
          <p:cNvPr id="36" name="Google Shape;36;p4"/>
          <p:cNvSpPr/>
          <p:nvPr/>
        </p:nvSpPr>
        <p:spPr>
          <a:xfrm>
            <a:off x="10424160" y="-1463040"/>
            <a:ext cx="3108960" cy="3108960"/>
          </a:xfrm>
          <a:prstGeom prst="ellipse">
            <a:avLst/>
          </a:prstGeom>
          <a:solidFill>
            <a:srgbClr val="1C7293">
              <a:alpha val="7843"/>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4"/>
          <p:cNvSpPr/>
          <p:nvPr/>
        </p:nvSpPr>
        <p:spPr>
          <a:xfrm>
            <a:off x="-1097280" y="5669280"/>
            <a:ext cx="2194560" cy="2194560"/>
          </a:xfrm>
          <a:prstGeom prst="ellipse">
            <a:avLst/>
          </a:prstGeom>
          <a:solidFill>
            <a:srgbClr val="21295C">
              <a:alpha val="5098"/>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 name="Google Shape;38;p4"/>
          <p:cNvSpPr/>
          <p:nvPr/>
        </p:nvSpPr>
        <p:spPr>
          <a:xfrm>
            <a:off x="502920" y="457200"/>
            <a:ext cx="530352" cy="530352"/>
          </a:xfrm>
          <a:prstGeom prst="roundRect">
            <a:avLst>
              <a:gd name="adj" fmla="val 20690"/>
            </a:avLst>
          </a:prstGeom>
          <a:solidFill>
            <a:srgbClr val="21295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 name="Google Shape;39;p4"/>
          <p:cNvSpPr/>
          <p:nvPr/>
        </p:nvSpPr>
        <p:spPr>
          <a:xfrm>
            <a:off x="502920" y="457200"/>
            <a:ext cx="530352" cy="530352"/>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600"/>
              <a:buFont typeface="Calibri"/>
              <a:buNone/>
            </a:pPr>
            <a:r>
              <a:rPr lang="en-US" sz="1600" b="1" i="0" u="none" strike="noStrike" cap="none">
                <a:solidFill>
                  <a:srgbClr val="FFFFFF"/>
                </a:solidFill>
                <a:latin typeface="Calibri"/>
                <a:ea typeface="Calibri"/>
                <a:cs typeface="Calibri"/>
                <a:sym typeface="Calibri"/>
              </a:rPr>
              <a:t>01</a:t>
            </a:r>
            <a:endParaRPr sz="1600" b="0" i="0" u="none" strike="noStrike" cap="none">
              <a:solidFill>
                <a:schemeClr val="dk1"/>
              </a:solidFill>
              <a:latin typeface="Calibri"/>
              <a:ea typeface="Calibri"/>
              <a:cs typeface="Calibri"/>
              <a:sym typeface="Calibri"/>
            </a:endParaRPr>
          </a:p>
        </p:txBody>
      </p:sp>
      <p:sp>
        <p:nvSpPr>
          <p:cNvPr id="40" name="Google Shape;40;p4"/>
          <p:cNvSpPr/>
          <p:nvPr/>
        </p:nvSpPr>
        <p:spPr>
          <a:xfrm>
            <a:off x="1234440" y="429768"/>
            <a:ext cx="8686800" cy="27432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C7293"/>
              </a:buClr>
              <a:buSzPts val="1100"/>
              <a:buFont typeface="Calibri"/>
              <a:buNone/>
            </a:pPr>
            <a:r>
              <a:rPr lang="en-US" sz="1100" b="1" i="0" u="none" strike="noStrike" cap="none">
                <a:solidFill>
                  <a:srgbClr val="1C7293"/>
                </a:solidFill>
                <a:latin typeface="Calibri"/>
                <a:ea typeface="Calibri"/>
                <a:cs typeface="Calibri"/>
                <a:sym typeface="Calibri"/>
              </a:rPr>
              <a:t>OVERVIEW</a:t>
            </a:r>
            <a:endParaRPr sz="1100" b="0" i="0" u="none" strike="noStrike" cap="none">
              <a:solidFill>
                <a:schemeClr val="dk1"/>
              </a:solidFill>
              <a:latin typeface="Calibri"/>
              <a:ea typeface="Calibri"/>
              <a:cs typeface="Calibri"/>
              <a:sym typeface="Calibri"/>
            </a:endParaRPr>
          </a:p>
        </p:txBody>
      </p:sp>
      <p:sp>
        <p:nvSpPr>
          <p:cNvPr id="41" name="Google Shape;41;p4"/>
          <p:cNvSpPr/>
          <p:nvPr/>
        </p:nvSpPr>
        <p:spPr>
          <a:xfrm>
            <a:off x="1234440" y="676656"/>
            <a:ext cx="9692640" cy="566928"/>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21295C"/>
              </a:buClr>
              <a:buSzPts val="3000"/>
              <a:buFont typeface="Cambria"/>
              <a:buNone/>
            </a:pPr>
            <a:r>
              <a:rPr lang="en-US" sz="3000" b="1" i="0" u="none" strike="noStrike" cap="none">
                <a:solidFill>
                  <a:srgbClr val="21295C"/>
                </a:solidFill>
                <a:latin typeface="Cambria"/>
                <a:ea typeface="Cambria"/>
                <a:cs typeface="Cambria"/>
                <a:sym typeface="Cambria"/>
              </a:rPr>
              <a:t>Presentation Agenda</a:t>
            </a:r>
            <a:endParaRPr sz="3000" b="0" i="0" u="none" strike="noStrike" cap="none">
              <a:solidFill>
                <a:schemeClr val="dk1"/>
              </a:solidFill>
              <a:latin typeface="Calibri"/>
              <a:ea typeface="Calibri"/>
              <a:cs typeface="Calibri"/>
              <a:sym typeface="Calibri"/>
            </a:endParaRPr>
          </a:p>
        </p:txBody>
      </p:sp>
      <p:sp>
        <p:nvSpPr>
          <p:cNvPr id="42" name="Google Shape;42;p4"/>
          <p:cNvSpPr/>
          <p:nvPr/>
        </p:nvSpPr>
        <p:spPr>
          <a:xfrm>
            <a:off x="914400" y="1600200"/>
            <a:ext cx="420624" cy="420624"/>
          </a:xfrm>
          <a:prstGeom prst="ellipse">
            <a:avLst/>
          </a:prstGeom>
          <a:solidFill>
            <a:srgbClr val="1C72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 name="Google Shape;43;p4"/>
          <p:cNvSpPr/>
          <p:nvPr/>
        </p:nvSpPr>
        <p:spPr>
          <a:xfrm>
            <a:off x="914400" y="1600200"/>
            <a:ext cx="420624" cy="42062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1</a:t>
            </a:r>
            <a:endParaRPr sz="1400" b="0" i="0" u="none" strike="noStrike" cap="none">
              <a:solidFill>
                <a:schemeClr val="dk1"/>
              </a:solidFill>
              <a:latin typeface="Calibri"/>
              <a:ea typeface="Calibri"/>
              <a:cs typeface="Calibri"/>
              <a:sym typeface="Calibri"/>
            </a:endParaRPr>
          </a:p>
        </p:txBody>
      </p:sp>
      <p:sp>
        <p:nvSpPr>
          <p:cNvPr id="44" name="Google Shape;44;p4"/>
          <p:cNvSpPr/>
          <p:nvPr/>
        </p:nvSpPr>
        <p:spPr>
          <a:xfrm>
            <a:off x="1536192" y="1581912"/>
            <a:ext cx="4297680" cy="457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B1F3B"/>
              </a:buClr>
              <a:buSzPts val="1600"/>
              <a:buFont typeface="Calibri"/>
              <a:buNone/>
            </a:pPr>
            <a:r>
              <a:rPr sz="1350"/>
              <a:t>Problem Statement</a:t>
            </a:r>
            <a:endParaRPr sz="1600" b="0" i="0" u="none" strike="noStrike" cap="none">
              <a:solidFill>
                <a:schemeClr val="dk1"/>
              </a:solidFill>
              <a:latin typeface="Calibri"/>
              <a:ea typeface="Calibri"/>
              <a:cs typeface="Calibri"/>
              <a:sym typeface="Calibri"/>
            </a:endParaRPr>
          </a:p>
        </p:txBody>
      </p:sp>
      <p:sp>
        <p:nvSpPr>
          <p:cNvPr id="45" name="Google Shape;45;p4"/>
          <p:cNvSpPr/>
          <p:nvPr/>
        </p:nvSpPr>
        <p:spPr>
          <a:xfrm>
            <a:off x="914400" y="2258568"/>
            <a:ext cx="420624" cy="420624"/>
          </a:xfrm>
          <a:prstGeom prst="ellipse">
            <a:avLst/>
          </a:prstGeom>
          <a:solidFill>
            <a:srgbClr val="1C72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 name="Google Shape;46;p4"/>
          <p:cNvSpPr/>
          <p:nvPr/>
        </p:nvSpPr>
        <p:spPr>
          <a:xfrm>
            <a:off x="914400" y="2258568"/>
            <a:ext cx="420624" cy="42062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400"/>
              <a:buFont typeface="Calibri"/>
              <a:buNone/>
            </a:pPr>
            <a:r>
              <a:rPr sz="900"/>
              <a:t>2</a:t>
            </a:r>
            <a:endParaRPr sz="1400" b="0" i="0" u="none" strike="noStrike" cap="none">
              <a:solidFill>
                <a:schemeClr val="dk1"/>
              </a:solidFill>
              <a:latin typeface="Calibri"/>
              <a:ea typeface="Calibri"/>
              <a:cs typeface="Calibri"/>
              <a:sym typeface="Calibri"/>
            </a:endParaRPr>
          </a:p>
        </p:txBody>
      </p:sp>
      <p:sp>
        <p:nvSpPr>
          <p:cNvPr id="47" name="Google Shape;47;p4"/>
          <p:cNvSpPr/>
          <p:nvPr/>
        </p:nvSpPr>
        <p:spPr>
          <a:xfrm>
            <a:off x="1536192" y="2240280"/>
            <a:ext cx="4297680" cy="457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B1F3B"/>
              </a:buClr>
              <a:buSzPts val="1600"/>
              <a:buFont typeface="Calibri"/>
              <a:buNone/>
            </a:pPr>
            <a:r>
              <a:rPr sz="1350"/>
              <a:t>Objectives</a:t>
            </a:r>
            <a:endParaRPr sz="1600" b="0" i="0" u="none" strike="noStrike" cap="none">
              <a:solidFill>
                <a:schemeClr val="dk1"/>
              </a:solidFill>
              <a:latin typeface="Calibri"/>
              <a:ea typeface="Calibri"/>
              <a:cs typeface="Calibri"/>
              <a:sym typeface="Calibri"/>
            </a:endParaRPr>
          </a:p>
        </p:txBody>
      </p:sp>
      <p:sp>
        <p:nvSpPr>
          <p:cNvPr id="48" name="Google Shape;48;p4"/>
          <p:cNvSpPr/>
          <p:nvPr/>
        </p:nvSpPr>
        <p:spPr>
          <a:xfrm>
            <a:off x="914400" y="2916936"/>
            <a:ext cx="420624" cy="420624"/>
          </a:xfrm>
          <a:prstGeom prst="ellipse">
            <a:avLst/>
          </a:prstGeom>
          <a:solidFill>
            <a:srgbClr val="1C72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 name="Google Shape;49;p4"/>
          <p:cNvSpPr/>
          <p:nvPr/>
        </p:nvSpPr>
        <p:spPr>
          <a:xfrm>
            <a:off x="914400" y="2916936"/>
            <a:ext cx="420624" cy="42062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3</a:t>
            </a:r>
            <a:endParaRPr sz="1400" b="0" i="0" u="none" strike="noStrike" cap="none">
              <a:solidFill>
                <a:schemeClr val="dk1"/>
              </a:solidFill>
              <a:latin typeface="Calibri"/>
              <a:ea typeface="Calibri"/>
              <a:cs typeface="Calibri"/>
              <a:sym typeface="Calibri"/>
            </a:endParaRPr>
          </a:p>
        </p:txBody>
      </p:sp>
      <p:sp>
        <p:nvSpPr>
          <p:cNvPr id="50" name="Google Shape;50;p4"/>
          <p:cNvSpPr/>
          <p:nvPr/>
        </p:nvSpPr>
        <p:spPr>
          <a:xfrm>
            <a:off x="1536192" y="2898648"/>
            <a:ext cx="4297680" cy="457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B1F3B"/>
              </a:buClr>
              <a:buSzPts val="1600"/>
              <a:buFont typeface="Calibri"/>
              <a:buNone/>
            </a:pPr>
            <a:r>
              <a:rPr sz="1350"/>
              <a:t>Technology Stack</a:t>
            </a:r>
            <a:endParaRPr sz="1600" b="0" i="0" u="none" strike="noStrike" cap="none">
              <a:solidFill>
                <a:schemeClr val="dk1"/>
              </a:solidFill>
              <a:latin typeface="Calibri"/>
              <a:ea typeface="Calibri"/>
              <a:cs typeface="Calibri"/>
              <a:sym typeface="Calibri"/>
            </a:endParaRPr>
          </a:p>
        </p:txBody>
      </p:sp>
      <p:sp>
        <p:nvSpPr>
          <p:cNvPr id="51" name="Google Shape;51;p4"/>
          <p:cNvSpPr/>
          <p:nvPr/>
        </p:nvSpPr>
        <p:spPr>
          <a:xfrm>
            <a:off x="914400" y="3575304"/>
            <a:ext cx="420624" cy="420624"/>
          </a:xfrm>
          <a:prstGeom prst="ellipse">
            <a:avLst/>
          </a:prstGeom>
          <a:solidFill>
            <a:srgbClr val="1C72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 name="Google Shape;52;p4"/>
          <p:cNvSpPr/>
          <p:nvPr/>
        </p:nvSpPr>
        <p:spPr>
          <a:xfrm>
            <a:off x="914400" y="3575304"/>
            <a:ext cx="420624" cy="42062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4</a:t>
            </a:r>
            <a:endParaRPr sz="1400" b="0" i="0" u="none" strike="noStrike" cap="none">
              <a:solidFill>
                <a:schemeClr val="dk1"/>
              </a:solidFill>
              <a:latin typeface="Calibri"/>
              <a:ea typeface="Calibri"/>
              <a:cs typeface="Calibri"/>
              <a:sym typeface="Calibri"/>
            </a:endParaRPr>
          </a:p>
        </p:txBody>
      </p:sp>
      <p:sp>
        <p:nvSpPr>
          <p:cNvPr id="53" name="Google Shape;53;p4"/>
          <p:cNvSpPr/>
          <p:nvPr/>
        </p:nvSpPr>
        <p:spPr>
          <a:xfrm>
            <a:off x="1536192" y="3557016"/>
            <a:ext cx="4297680" cy="457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B1F3B"/>
              </a:buClr>
              <a:buSzPts val="1600"/>
              <a:buFont typeface="Calibri"/>
              <a:buNone/>
            </a:pPr>
            <a:r>
              <a:rPr sz="1350"/>
              <a:t>Literature Survey</a:t>
            </a:r>
            <a:endParaRPr sz="1600" b="0" i="0" u="none" strike="noStrike" cap="none">
              <a:solidFill>
                <a:schemeClr val="dk1"/>
              </a:solidFill>
              <a:latin typeface="Calibri"/>
              <a:ea typeface="Calibri"/>
              <a:cs typeface="Calibri"/>
              <a:sym typeface="Calibri"/>
            </a:endParaRPr>
          </a:p>
        </p:txBody>
      </p:sp>
      <p:sp>
        <p:nvSpPr>
          <p:cNvPr id="54" name="Google Shape;54;p4"/>
          <p:cNvSpPr/>
          <p:nvPr/>
        </p:nvSpPr>
        <p:spPr>
          <a:xfrm>
            <a:off x="6309360" y="1600200"/>
            <a:ext cx="420624" cy="420624"/>
          </a:xfrm>
          <a:prstGeom prst="ellipse">
            <a:avLst/>
          </a:prstGeom>
          <a:solidFill>
            <a:srgbClr val="1C72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 name="Google Shape;55;p4"/>
          <p:cNvSpPr/>
          <p:nvPr/>
        </p:nvSpPr>
        <p:spPr>
          <a:xfrm>
            <a:off x="6309360" y="1600200"/>
            <a:ext cx="420624" cy="42062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5</a:t>
            </a:r>
            <a:endParaRPr sz="1400" b="0" i="0" u="none" strike="noStrike" cap="none">
              <a:solidFill>
                <a:schemeClr val="dk1"/>
              </a:solidFill>
              <a:latin typeface="Calibri"/>
              <a:ea typeface="Calibri"/>
              <a:cs typeface="Calibri"/>
              <a:sym typeface="Calibri"/>
            </a:endParaRPr>
          </a:p>
        </p:txBody>
      </p:sp>
      <p:sp>
        <p:nvSpPr>
          <p:cNvPr id="56" name="Google Shape;56;p4"/>
          <p:cNvSpPr/>
          <p:nvPr/>
        </p:nvSpPr>
        <p:spPr>
          <a:xfrm>
            <a:off x="6931152" y="1581912"/>
            <a:ext cx="4297680" cy="457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B1F3B"/>
              </a:buClr>
              <a:buSzPts val="1600"/>
              <a:buFont typeface="Calibri"/>
              <a:buNone/>
            </a:pPr>
            <a:r>
              <a:rPr sz="1350"/>
              <a:t>System Workflow / Architecture</a:t>
            </a:r>
            <a:endParaRPr sz="1600" b="0" i="0" u="none" strike="noStrike" cap="none">
              <a:solidFill>
                <a:schemeClr val="dk1"/>
              </a:solidFill>
              <a:latin typeface="Calibri"/>
              <a:ea typeface="Calibri"/>
              <a:cs typeface="Calibri"/>
              <a:sym typeface="Calibri"/>
            </a:endParaRPr>
          </a:p>
        </p:txBody>
      </p:sp>
      <p:sp>
        <p:nvSpPr>
          <p:cNvPr id="57" name="Google Shape;57;p4"/>
          <p:cNvSpPr/>
          <p:nvPr/>
        </p:nvSpPr>
        <p:spPr>
          <a:xfrm>
            <a:off x="6309360" y="2258568"/>
            <a:ext cx="420624" cy="420624"/>
          </a:xfrm>
          <a:prstGeom prst="ellipse">
            <a:avLst/>
          </a:prstGeom>
          <a:solidFill>
            <a:srgbClr val="1C72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58;p4"/>
          <p:cNvSpPr/>
          <p:nvPr/>
        </p:nvSpPr>
        <p:spPr>
          <a:xfrm>
            <a:off x="6309360" y="2258568"/>
            <a:ext cx="420624" cy="42062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6</a:t>
            </a:r>
            <a:endParaRPr sz="1400" b="0" i="0" u="none" strike="noStrike" cap="none">
              <a:solidFill>
                <a:schemeClr val="dk1"/>
              </a:solidFill>
              <a:latin typeface="Calibri"/>
              <a:ea typeface="Calibri"/>
              <a:cs typeface="Calibri"/>
              <a:sym typeface="Calibri"/>
            </a:endParaRPr>
          </a:p>
        </p:txBody>
      </p:sp>
      <p:sp>
        <p:nvSpPr>
          <p:cNvPr id="59" name="Google Shape;59;p4"/>
          <p:cNvSpPr/>
          <p:nvPr/>
        </p:nvSpPr>
        <p:spPr>
          <a:xfrm>
            <a:off x="6931152" y="2240280"/>
            <a:ext cx="4297680" cy="457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B1F3B"/>
              </a:buClr>
              <a:buSzPts val="1600"/>
              <a:buFont typeface="Calibri"/>
              <a:buNone/>
            </a:pPr>
            <a:r>
              <a:rPr sz="1350"/>
              <a:t>Expected Outcome</a:t>
            </a:r>
            <a:endParaRPr sz="1600" b="0" i="0" u="none" strike="noStrike" cap="none">
              <a:solidFill>
                <a:schemeClr val="dk1"/>
              </a:solidFill>
              <a:latin typeface="Calibri"/>
              <a:ea typeface="Calibri"/>
              <a:cs typeface="Calibri"/>
              <a:sym typeface="Calibri"/>
            </a:endParaRPr>
          </a:p>
        </p:txBody>
      </p:sp>
      <p:sp>
        <p:nvSpPr>
          <p:cNvPr id="60" name="Google Shape;60;p4"/>
          <p:cNvSpPr/>
          <p:nvPr/>
        </p:nvSpPr>
        <p:spPr>
          <a:xfrm>
            <a:off x="6309360" y="2916936"/>
            <a:ext cx="420624" cy="420624"/>
          </a:xfrm>
          <a:prstGeom prst="ellipse">
            <a:avLst/>
          </a:prstGeom>
          <a:solidFill>
            <a:srgbClr val="1C72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 name="Google Shape;61;p4"/>
          <p:cNvSpPr/>
          <p:nvPr/>
        </p:nvSpPr>
        <p:spPr>
          <a:xfrm>
            <a:off x="6309360" y="2916936"/>
            <a:ext cx="420624" cy="42062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7</a:t>
            </a:r>
            <a:endParaRPr sz="1400" b="0" i="0" u="none" strike="noStrike" cap="none">
              <a:solidFill>
                <a:schemeClr val="dk1"/>
              </a:solidFill>
              <a:latin typeface="Calibri"/>
              <a:ea typeface="Calibri"/>
              <a:cs typeface="Calibri"/>
              <a:sym typeface="Calibri"/>
            </a:endParaRPr>
          </a:p>
        </p:txBody>
      </p:sp>
      <p:sp>
        <p:nvSpPr>
          <p:cNvPr id="62" name="Google Shape;62;p4"/>
          <p:cNvSpPr/>
          <p:nvPr/>
        </p:nvSpPr>
        <p:spPr>
          <a:xfrm>
            <a:off x="6931152" y="2898648"/>
            <a:ext cx="4297680" cy="457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B1F3B"/>
              </a:buClr>
              <a:buSzPts val="1600"/>
              <a:buFont typeface="Calibri"/>
              <a:buNone/>
            </a:pPr>
            <a:r>
              <a:rPr sz="1350"/>
              <a:t>References</a:t>
            </a:r>
            <a:endParaRPr sz="1600" b="0" i="0" u="none" strike="noStrike" cap="none">
              <a:solidFill>
                <a:schemeClr val="dk1"/>
              </a:solidFill>
              <a:latin typeface="Calibri"/>
              <a:ea typeface="Calibri"/>
              <a:cs typeface="Calibri"/>
              <a:sym typeface="Calibri"/>
            </a:endParaRPr>
          </a:p>
        </p:txBody>
      </p:sp>
      <p:sp>
        <p:nvSpPr>
          <p:cNvPr id="63" name="Google Shape;63;p4"/>
          <p:cNvSpPr/>
          <p:nvPr/>
        </p:nvSpPr>
        <p:spPr>
          <a:xfrm>
            <a:off x="502920" y="6519672"/>
            <a:ext cx="7315200" cy="27432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6B7593"/>
              </a:buClr>
              <a:buSzPts val="900"/>
              <a:buFont typeface="Calibri"/>
              <a:buNone/>
            </a:pPr>
            <a:r>
              <a:rPr sz="900"/>
              <a:t>BCC351  ·  B.TECH SECOND YEAR MINI PROJECT PRESENTATION</a:t>
            </a:r>
            <a:endParaRPr sz="900" b="0" i="0" u="none" strike="noStrike" cap="none">
              <a:solidFill>
                <a:schemeClr val="dk1"/>
              </a:solidFill>
              <a:latin typeface="Calibri"/>
              <a:ea typeface="Calibri"/>
              <a:cs typeface="Calibri"/>
              <a:sym typeface="Calibri"/>
            </a:endParaRPr>
          </a:p>
        </p:txBody>
      </p:sp>
      <p:sp>
        <p:nvSpPr>
          <p:cNvPr id="64" name="Google Shape;64;p4"/>
          <p:cNvSpPr/>
          <p:nvPr/>
        </p:nvSpPr>
        <p:spPr>
          <a:xfrm>
            <a:off x="11228832" y="6519672"/>
            <a:ext cx="457200" cy="27432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6B7593"/>
              </a:buClr>
              <a:buSzPts val="900"/>
              <a:buFont typeface="Calibri"/>
              <a:buNone/>
            </a:pPr>
            <a:r>
              <a:rPr sz="900"/>
              <a:t>2</a:t>
            </a:r>
            <a:endParaRPr sz="900" b="0" i="0" u="none" strike="noStrike" cap="non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Shape 69"/>
        <p:cNvGrpSpPr/>
        <p:nvPr/>
      </p:nvGrpSpPr>
      <p:grpSpPr>
        <a:xfrm>
          <a:off x="0" y="0"/>
          <a:ext cx="0" cy="0"/>
          <a:chOff x="0" y="0"/>
          <a:chExt cx="0" cy="0"/>
        </a:xfrm>
      </p:grpSpPr>
      <p:sp>
        <p:nvSpPr>
          <p:cNvPr id="70" name="Google Shape;70;p5"/>
          <p:cNvSpPr/>
          <p:nvPr/>
        </p:nvSpPr>
        <p:spPr>
          <a:xfrm>
            <a:off x="10424160" y="-1463040"/>
            <a:ext cx="3108960" cy="3108960"/>
          </a:xfrm>
          <a:prstGeom prst="ellipse">
            <a:avLst/>
          </a:prstGeom>
          <a:solidFill>
            <a:srgbClr val="1C7293">
              <a:alpha val="7843"/>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 name="Google Shape;71;p5"/>
          <p:cNvSpPr/>
          <p:nvPr/>
        </p:nvSpPr>
        <p:spPr>
          <a:xfrm>
            <a:off x="-1097280" y="5669280"/>
            <a:ext cx="2194560" cy="2194560"/>
          </a:xfrm>
          <a:prstGeom prst="ellipse">
            <a:avLst/>
          </a:prstGeom>
          <a:solidFill>
            <a:srgbClr val="21295C">
              <a:alpha val="5098"/>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 name="Google Shape;72;p5"/>
          <p:cNvSpPr/>
          <p:nvPr/>
        </p:nvSpPr>
        <p:spPr>
          <a:xfrm>
            <a:off x="502920" y="457200"/>
            <a:ext cx="530352" cy="530352"/>
          </a:xfrm>
          <a:prstGeom prst="roundRect">
            <a:avLst>
              <a:gd name="adj" fmla="val 20690"/>
            </a:avLst>
          </a:prstGeom>
          <a:solidFill>
            <a:srgbClr val="21295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 name="Google Shape;73;p5"/>
          <p:cNvSpPr/>
          <p:nvPr/>
        </p:nvSpPr>
        <p:spPr>
          <a:xfrm>
            <a:off x="502920" y="457200"/>
            <a:ext cx="530352" cy="530352"/>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600"/>
              <a:buFont typeface="Calibri"/>
              <a:buNone/>
            </a:pPr>
            <a:r>
              <a:rPr lang="en-US" sz="1600" b="1" i="0" u="none" strike="noStrike" cap="none">
                <a:solidFill>
                  <a:srgbClr val="FFFFFF"/>
                </a:solidFill>
                <a:latin typeface="Calibri"/>
                <a:ea typeface="Calibri"/>
                <a:cs typeface="Calibri"/>
                <a:sym typeface="Calibri"/>
              </a:rPr>
              <a:t>02</a:t>
            </a:r>
            <a:endParaRPr sz="1600" b="0" i="0" u="none" strike="noStrike" cap="none">
              <a:solidFill>
                <a:schemeClr val="dk1"/>
              </a:solidFill>
              <a:latin typeface="Calibri"/>
              <a:ea typeface="Calibri"/>
              <a:cs typeface="Calibri"/>
              <a:sym typeface="Calibri"/>
            </a:endParaRPr>
          </a:p>
        </p:txBody>
      </p:sp>
      <p:sp>
        <p:nvSpPr>
          <p:cNvPr id="74" name="Google Shape;74;p5"/>
          <p:cNvSpPr/>
          <p:nvPr/>
        </p:nvSpPr>
        <p:spPr>
          <a:xfrm>
            <a:off x="1234440" y="429768"/>
            <a:ext cx="8686800" cy="27432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C7293"/>
              </a:buClr>
              <a:buSzPts val="1100"/>
              <a:buFont typeface="Calibri"/>
              <a:buNone/>
            </a:pPr>
            <a:r>
              <a:rPr lang="en-US" sz="1100" b="1" i="0" u="none" strike="noStrike" cap="none">
                <a:solidFill>
                  <a:srgbClr val="1C7293"/>
                </a:solidFill>
                <a:latin typeface="Calibri"/>
                <a:ea typeface="Calibri"/>
                <a:cs typeface="Calibri"/>
                <a:sym typeface="Calibri"/>
              </a:rPr>
              <a:t>SECTION 02</a:t>
            </a:r>
            <a:endParaRPr sz="1100" b="0" i="0" u="none" strike="noStrike" cap="none">
              <a:solidFill>
                <a:schemeClr val="dk1"/>
              </a:solidFill>
              <a:latin typeface="Calibri"/>
              <a:ea typeface="Calibri"/>
              <a:cs typeface="Calibri"/>
              <a:sym typeface="Calibri"/>
            </a:endParaRPr>
          </a:p>
        </p:txBody>
      </p:sp>
      <p:sp>
        <p:nvSpPr>
          <p:cNvPr id="75" name="Google Shape;75;p5"/>
          <p:cNvSpPr/>
          <p:nvPr/>
        </p:nvSpPr>
        <p:spPr>
          <a:xfrm>
            <a:off x="1234440" y="676656"/>
            <a:ext cx="9692640" cy="566928"/>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21295C"/>
              </a:buClr>
              <a:buSzPts val="3000"/>
              <a:buFont typeface="Cambria"/>
              <a:buNone/>
            </a:pPr>
            <a:r>
              <a:rPr lang="en-US" sz="3000" b="1" i="0" u="none" strike="noStrike" cap="none">
                <a:solidFill>
                  <a:srgbClr val="21295C"/>
                </a:solidFill>
                <a:latin typeface="Cambria"/>
                <a:ea typeface="Cambria"/>
                <a:cs typeface="Cambria"/>
                <a:sym typeface="Cambria"/>
              </a:rPr>
              <a:t>Problem Statement</a:t>
            </a:r>
            <a:endParaRPr sz="3000" b="0" i="0" u="none" strike="noStrike" cap="none">
              <a:solidFill>
                <a:schemeClr val="dk1"/>
              </a:solidFill>
              <a:latin typeface="Calibri"/>
              <a:ea typeface="Calibri"/>
              <a:cs typeface="Calibri"/>
              <a:sym typeface="Calibri"/>
            </a:endParaRPr>
          </a:p>
        </p:txBody>
      </p:sp>
      <p:sp>
        <p:nvSpPr>
          <p:cNvPr id="76" name="Google Shape;76;p5"/>
          <p:cNvSpPr/>
          <p:nvPr/>
        </p:nvSpPr>
        <p:spPr>
          <a:xfrm>
            <a:off x="1234450" y="1543875"/>
            <a:ext cx="9849000" cy="4445400"/>
          </a:xfrm>
          <a:prstGeom prst="roundRect">
            <a:avLst>
              <a:gd name="adj" fmla="val 2564"/>
            </a:avLst>
          </a:prstGeom>
          <a:solidFill>
            <a:srgbClr val="FFFFFF"/>
          </a:solidFill>
          <a:ln w="12700" cap="flat" cmpd="sng">
            <a:solidFill>
              <a:srgbClr val="DEE4EF"/>
            </a:solidFill>
            <a:prstDash val="dash"/>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p5"/>
          <p:cNvSpPr/>
          <p:nvPr/>
        </p:nvSpPr>
        <p:spPr>
          <a:xfrm>
            <a:off x="1554475" y="1772638"/>
            <a:ext cx="9106200" cy="4216800"/>
          </a:xfrm>
          <a:prstGeom prst="rect">
            <a:avLst/>
          </a:prstGeom>
          <a:noFill/>
          <a:ln>
            <a:noFill/>
          </a:ln>
        </p:spPr>
        <p:txBody>
          <a:bodyPr spcFirstLastPara="1" wrap="square" lIns="91425" tIns="45700" rIns="91425" bIns="45700" anchor="ctr" anchorCtr="0">
            <a:noAutofit/>
          </a:bodyPr>
          <a:lstStyle/>
          <a:p>
            <a:pPr marL="0" marR="0" lvl="0" indent="0" algn="l" rtl="0">
              <a:lnSpc>
                <a:spcPct val="130000"/>
              </a:lnSpc>
              <a:spcBef>
                <a:spcPts val="0"/>
              </a:spcBef>
              <a:spcAft>
                <a:spcPts val="0"/>
              </a:spcAft>
              <a:buClr>
                <a:srgbClr val="6B7593"/>
              </a:buClr>
              <a:buSzPts val="1400"/>
              <a:buFont typeface="Calibri"/>
              <a:buNone/>
            </a:pPr>
            <a:r>
              <a:rPr sz="1500" b="0">
                <a:solidFill>
                  <a:srgbClr val="232323"/>
                </a:solidFill>
              </a:rPr>
              <a:t>The supplied IPL ball-by-ball dataset contains 278,205 deliveries from 2008–2025 across 1,169 matches, creating a large volume of player, team, over and delivery-level information. Raw ball-by-ball records are difficult to interpret directly when comparing batting, bowling and team performance. The project addresses this problem by cleaning, transforming and aggregating the data into meaningful performance indicators and visual summaries. It focuses on descriptive analytics such as runs, wickets, strike rate, economy, phase-wise performance and season/team trends. The aim is to provide an easy-to-understand analytical view of IPL match and player performance from the available dataset.</a:t>
            </a:r>
            <a:endParaRPr sz="1400" b="0" i="0" u="none" strike="noStrike" cap="none">
              <a:solidFill>
                <a:schemeClr val="dk1"/>
              </a:solidFill>
              <a:latin typeface="Calibri"/>
              <a:ea typeface="Calibri"/>
              <a:cs typeface="Calibri"/>
              <a:sym typeface="Calibri"/>
            </a:endParaRPr>
          </a:p>
        </p:txBody>
      </p:sp>
      <p:sp>
        <p:nvSpPr>
          <p:cNvPr id="78" name="Google Shape;78;p5"/>
          <p:cNvSpPr/>
          <p:nvPr/>
        </p:nvSpPr>
        <p:spPr>
          <a:xfrm>
            <a:off x="502920" y="6519672"/>
            <a:ext cx="7315200" cy="27432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6B7593"/>
              </a:buClr>
              <a:buSzPts val="900"/>
              <a:buFont typeface="Calibri"/>
              <a:buNone/>
            </a:pPr>
            <a:r>
              <a:rPr sz="900"/>
              <a:t>BCC351  ·  B.TECH SECOND YEAR MINI PROJECT PRESENTATION</a:t>
            </a:r>
            <a:endParaRPr sz="900" b="0" i="0" u="none" strike="noStrike" cap="none">
              <a:solidFill>
                <a:schemeClr val="dk1"/>
              </a:solidFill>
              <a:latin typeface="Calibri"/>
              <a:ea typeface="Calibri"/>
              <a:cs typeface="Calibri"/>
              <a:sym typeface="Calibri"/>
            </a:endParaRPr>
          </a:p>
        </p:txBody>
      </p:sp>
      <p:sp>
        <p:nvSpPr>
          <p:cNvPr id="79" name="Google Shape;79;p5"/>
          <p:cNvSpPr/>
          <p:nvPr/>
        </p:nvSpPr>
        <p:spPr>
          <a:xfrm>
            <a:off x="11228832" y="6519672"/>
            <a:ext cx="457200" cy="27432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6B7593"/>
              </a:buClr>
              <a:buSzPts val="900"/>
              <a:buFont typeface="Calibri"/>
              <a:buNone/>
            </a:pPr>
            <a:r>
              <a:rPr sz="900"/>
              <a:t>3</a:t>
            </a:r>
            <a:endParaRPr sz="900" b="0" i="0" u="none" strike="noStrike" cap="none">
              <a:solidFill>
                <a:schemeClr val="dk1"/>
              </a:solidFill>
              <a:latin typeface="Calibri"/>
              <a:ea typeface="Calibri"/>
              <a:cs typeface="Calibri"/>
              <a:sym typeface="Calibri"/>
            </a:endParaRPr>
          </a:p>
        </p:txBody>
      </p:sp>
      <p:sp>
        <p:nvSpPr>
          <p:cNvPr id="80" name="TextBox 79"/>
          <p:cNvSpPr txBox="1"/>
          <p:nvPr/>
        </p:nvSpPr>
        <p:spPr>
          <a:xfrm>
            <a:off x="1572768" y="5257800"/>
            <a:ext cx="9006840" cy="502920"/>
          </a:xfrm>
          <a:prstGeom prst="rect">
            <a:avLst/>
          </a:prstGeom>
          <a:noFill/>
        </p:spPr>
        <p:txBody>
          <a:bodyPr wrap="square" anchor="ctr">
            <a:spAutoFit/>
          </a:bodyPr>
          <a:lstStyle/>
          <a:p>
            <a:pPr algn="l"/>
            <a:r>
              <a:rPr sz="1150" b="1">
                <a:solidFill>
                  <a:srgbClr val="007850"/>
                </a:solidFill>
              </a:rPr>
              <a:t>Dataset snapshot  •  18 seasons  •  1,169 matches  •  278,205 deliveries  •  703 batters  •  550 bowlers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Shape 84"/>
        <p:cNvGrpSpPr/>
        <p:nvPr/>
      </p:nvGrpSpPr>
      <p:grpSpPr>
        <a:xfrm>
          <a:off x="0" y="0"/>
          <a:ext cx="0" cy="0"/>
          <a:chOff x="0" y="0"/>
          <a:chExt cx="0" cy="0"/>
        </a:xfrm>
      </p:grpSpPr>
      <p:sp>
        <p:nvSpPr>
          <p:cNvPr id="85" name="Google Shape;85;p6"/>
          <p:cNvSpPr/>
          <p:nvPr/>
        </p:nvSpPr>
        <p:spPr>
          <a:xfrm>
            <a:off x="10424160" y="-1463040"/>
            <a:ext cx="3108960" cy="3108960"/>
          </a:xfrm>
          <a:prstGeom prst="ellipse">
            <a:avLst/>
          </a:prstGeom>
          <a:solidFill>
            <a:srgbClr val="1C7293">
              <a:alpha val="7843"/>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 name="Google Shape;86;p6"/>
          <p:cNvSpPr/>
          <p:nvPr/>
        </p:nvSpPr>
        <p:spPr>
          <a:xfrm>
            <a:off x="-1097280" y="5669280"/>
            <a:ext cx="2194560" cy="2194560"/>
          </a:xfrm>
          <a:prstGeom prst="ellipse">
            <a:avLst/>
          </a:prstGeom>
          <a:solidFill>
            <a:srgbClr val="21295C">
              <a:alpha val="5098"/>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 name="Google Shape;87;p6"/>
          <p:cNvSpPr/>
          <p:nvPr/>
        </p:nvSpPr>
        <p:spPr>
          <a:xfrm>
            <a:off x="502920" y="457200"/>
            <a:ext cx="530352" cy="530352"/>
          </a:xfrm>
          <a:prstGeom prst="roundRect">
            <a:avLst>
              <a:gd name="adj" fmla="val 20690"/>
            </a:avLst>
          </a:prstGeom>
          <a:solidFill>
            <a:srgbClr val="21295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 name="Google Shape;88;p6"/>
          <p:cNvSpPr/>
          <p:nvPr/>
        </p:nvSpPr>
        <p:spPr>
          <a:xfrm>
            <a:off x="502920" y="457200"/>
            <a:ext cx="530352" cy="530352"/>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600"/>
              <a:buFont typeface="Calibri"/>
              <a:buNone/>
            </a:pPr>
            <a:r>
              <a:rPr lang="en-US" sz="1600" b="1" i="0" u="none" strike="noStrike" cap="none">
                <a:solidFill>
                  <a:srgbClr val="FFFFFF"/>
                </a:solidFill>
                <a:latin typeface="Calibri"/>
                <a:ea typeface="Calibri"/>
                <a:cs typeface="Calibri"/>
                <a:sym typeface="Calibri"/>
              </a:rPr>
              <a:t>03</a:t>
            </a:r>
            <a:endParaRPr sz="1600" b="0" i="0" u="none" strike="noStrike" cap="none">
              <a:solidFill>
                <a:schemeClr val="dk1"/>
              </a:solidFill>
              <a:latin typeface="Calibri"/>
              <a:ea typeface="Calibri"/>
              <a:cs typeface="Calibri"/>
              <a:sym typeface="Calibri"/>
            </a:endParaRPr>
          </a:p>
        </p:txBody>
      </p:sp>
      <p:sp>
        <p:nvSpPr>
          <p:cNvPr id="89" name="Google Shape;89;p6"/>
          <p:cNvSpPr/>
          <p:nvPr/>
        </p:nvSpPr>
        <p:spPr>
          <a:xfrm>
            <a:off x="1234440" y="429768"/>
            <a:ext cx="8686800" cy="27432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C7293"/>
              </a:buClr>
              <a:buSzPts val="1100"/>
              <a:buFont typeface="Calibri"/>
              <a:buNone/>
            </a:pPr>
            <a:r>
              <a:rPr lang="en-US" sz="1100" b="1" i="0" u="none" strike="noStrike" cap="none">
                <a:solidFill>
                  <a:srgbClr val="1C7293"/>
                </a:solidFill>
                <a:latin typeface="Calibri"/>
                <a:ea typeface="Calibri"/>
                <a:cs typeface="Calibri"/>
                <a:sym typeface="Calibri"/>
              </a:rPr>
              <a:t>SECTION 03</a:t>
            </a:r>
            <a:endParaRPr sz="1100" b="0" i="0" u="none" strike="noStrike" cap="none">
              <a:solidFill>
                <a:schemeClr val="dk1"/>
              </a:solidFill>
              <a:latin typeface="Calibri"/>
              <a:ea typeface="Calibri"/>
              <a:cs typeface="Calibri"/>
              <a:sym typeface="Calibri"/>
            </a:endParaRPr>
          </a:p>
        </p:txBody>
      </p:sp>
      <p:sp>
        <p:nvSpPr>
          <p:cNvPr id="90" name="Google Shape;90;p6"/>
          <p:cNvSpPr/>
          <p:nvPr/>
        </p:nvSpPr>
        <p:spPr>
          <a:xfrm>
            <a:off x="1234440" y="676656"/>
            <a:ext cx="9692640" cy="566928"/>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21295C"/>
              </a:buClr>
              <a:buSzPts val="3000"/>
              <a:buFont typeface="Cambria"/>
              <a:buNone/>
            </a:pPr>
            <a:r>
              <a:rPr lang="en-US" sz="3000" b="1" i="0" u="none" strike="noStrike" cap="none">
                <a:solidFill>
                  <a:srgbClr val="21295C"/>
                </a:solidFill>
                <a:latin typeface="Cambria"/>
                <a:ea typeface="Cambria"/>
                <a:cs typeface="Cambria"/>
                <a:sym typeface="Cambria"/>
              </a:rPr>
              <a:t>Objectives</a:t>
            </a:r>
            <a:endParaRPr sz="3000" b="0" i="0" u="none" strike="noStrike" cap="none">
              <a:solidFill>
                <a:schemeClr val="dk1"/>
              </a:solidFill>
              <a:latin typeface="Calibri"/>
              <a:ea typeface="Calibri"/>
              <a:cs typeface="Calibri"/>
              <a:sym typeface="Calibri"/>
            </a:endParaRPr>
          </a:p>
        </p:txBody>
      </p:sp>
      <p:sp>
        <p:nvSpPr>
          <p:cNvPr id="91" name="Google Shape;91;p6"/>
          <p:cNvSpPr/>
          <p:nvPr/>
        </p:nvSpPr>
        <p:spPr>
          <a:xfrm>
            <a:off x="1234415" y="1632220"/>
            <a:ext cx="4663500" cy="1828800"/>
          </a:xfrm>
          <a:prstGeom prst="roundRect">
            <a:avLst>
              <a:gd name="adj" fmla="val 5000"/>
            </a:avLst>
          </a:prstGeom>
          <a:solidFill>
            <a:srgbClr val="FFFFFF"/>
          </a:solidFill>
          <a:ln w="12700" cap="flat" cmpd="sng">
            <a:solidFill>
              <a:srgbClr val="DEE4E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 name="Google Shape;92;p6"/>
          <p:cNvSpPr/>
          <p:nvPr/>
        </p:nvSpPr>
        <p:spPr>
          <a:xfrm>
            <a:off x="1463040" y="2286000"/>
            <a:ext cx="1005840" cy="9144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C9D8E8"/>
              </a:buClr>
              <a:buSzPts val="4000"/>
              <a:buFont typeface="Cambria"/>
              <a:buNone/>
            </a:pPr>
            <a:r>
              <a:rPr lang="en-US" sz="4000" b="1" i="0" u="none" strike="noStrike" cap="none">
                <a:solidFill>
                  <a:srgbClr val="C9D8E8"/>
                </a:solidFill>
                <a:latin typeface="Cambria"/>
                <a:ea typeface="Cambria"/>
                <a:cs typeface="Cambria"/>
                <a:sym typeface="Cambria"/>
              </a:rPr>
              <a:t>01</a:t>
            </a:r>
            <a:endParaRPr sz="4000" b="0" i="0" u="none" strike="noStrike" cap="none">
              <a:solidFill>
                <a:schemeClr val="dk1"/>
              </a:solidFill>
              <a:latin typeface="Calibri"/>
              <a:ea typeface="Calibri"/>
              <a:cs typeface="Calibri"/>
              <a:sym typeface="Calibri"/>
            </a:endParaRPr>
          </a:p>
        </p:txBody>
      </p:sp>
      <p:sp>
        <p:nvSpPr>
          <p:cNvPr id="93" name="Google Shape;93;p6"/>
          <p:cNvSpPr/>
          <p:nvPr/>
        </p:nvSpPr>
        <p:spPr>
          <a:xfrm>
            <a:off x="2423160" y="2107683"/>
            <a:ext cx="3291900" cy="13716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B1F3B"/>
              </a:buClr>
              <a:buSzPts val="1300"/>
              <a:buFont typeface="Calibri"/>
              <a:buNone/>
            </a:pPr>
            <a:r>
              <a:rPr sz="1400" b="0">
                <a:solidFill>
                  <a:srgbClr val="232323"/>
                </a:solidFill>
              </a:rPr>
              <a:t>Clean and structure the IPL ball-by-ball dataset for reliable analysis.</a:t>
            </a:r>
            <a:endParaRPr sz="1300" b="0" i="0" u="none" strike="noStrike" cap="none">
              <a:solidFill>
                <a:schemeClr val="dk1"/>
              </a:solidFill>
              <a:latin typeface="Calibri"/>
              <a:ea typeface="Calibri"/>
              <a:cs typeface="Calibri"/>
              <a:sym typeface="Calibri"/>
            </a:endParaRPr>
          </a:p>
        </p:txBody>
      </p:sp>
      <p:sp>
        <p:nvSpPr>
          <p:cNvPr id="94" name="Google Shape;94;p6"/>
          <p:cNvSpPr/>
          <p:nvPr/>
        </p:nvSpPr>
        <p:spPr>
          <a:xfrm>
            <a:off x="6355055" y="1632220"/>
            <a:ext cx="4663500" cy="1828800"/>
          </a:xfrm>
          <a:prstGeom prst="roundRect">
            <a:avLst>
              <a:gd name="adj" fmla="val 5000"/>
            </a:avLst>
          </a:prstGeom>
          <a:solidFill>
            <a:srgbClr val="FFFFFF"/>
          </a:solidFill>
          <a:ln w="12700" cap="flat" cmpd="sng">
            <a:solidFill>
              <a:srgbClr val="DEE4E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 name="Google Shape;95;p6"/>
          <p:cNvSpPr/>
          <p:nvPr/>
        </p:nvSpPr>
        <p:spPr>
          <a:xfrm>
            <a:off x="6583680" y="2286000"/>
            <a:ext cx="1005840" cy="9144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C9D8E8"/>
              </a:buClr>
              <a:buSzPts val="4000"/>
              <a:buFont typeface="Cambria"/>
              <a:buNone/>
            </a:pPr>
            <a:r>
              <a:rPr lang="en-US" sz="4000" b="1" i="0" u="none" strike="noStrike" cap="none">
                <a:solidFill>
                  <a:srgbClr val="C9D8E8"/>
                </a:solidFill>
                <a:latin typeface="Cambria"/>
                <a:ea typeface="Cambria"/>
                <a:cs typeface="Cambria"/>
                <a:sym typeface="Cambria"/>
              </a:rPr>
              <a:t>02</a:t>
            </a:r>
            <a:endParaRPr sz="4000" b="0" i="0" u="none" strike="noStrike" cap="none">
              <a:solidFill>
                <a:schemeClr val="dk1"/>
              </a:solidFill>
              <a:latin typeface="Calibri"/>
              <a:ea typeface="Calibri"/>
              <a:cs typeface="Calibri"/>
              <a:sym typeface="Calibri"/>
            </a:endParaRPr>
          </a:p>
        </p:txBody>
      </p:sp>
      <p:sp>
        <p:nvSpPr>
          <p:cNvPr id="96" name="Google Shape;96;p6"/>
          <p:cNvSpPr/>
          <p:nvPr/>
        </p:nvSpPr>
        <p:spPr>
          <a:xfrm>
            <a:off x="7543775" y="2016245"/>
            <a:ext cx="3291900" cy="13716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B1F3B"/>
              </a:buClr>
              <a:buSzPts val="1300"/>
              <a:buFont typeface="Calibri"/>
              <a:buNone/>
            </a:pPr>
            <a:r>
              <a:rPr sz="1400" b="0">
                <a:solidFill>
                  <a:srgbClr val="232323"/>
                </a:solidFill>
              </a:rPr>
              <a:t>Analyze batting and bowling performance using meaningful statistical metrics.</a:t>
            </a:r>
            <a:endParaRPr sz="1300" b="0" i="0" u="none" strike="noStrike" cap="none">
              <a:solidFill>
                <a:schemeClr val="dk1"/>
              </a:solidFill>
              <a:latin typeface="Calibri"/>
              <a:ea typeface="Calibri"/>
              <a:cs typeface="Calibri"/>
              <a:sym typeface="Calibri"/>
            </a:endParaRPr>
          </a:p>
        </p:txBody>
      </p:sp>
      <p:sp>
        <p:nvSpPr>
          <p:cNvPr id="97" name="Google Shape;97;p6"/>
          <p:cNvSpPr/>
          <p:nvPr/>
        </p:nvSpPr>
        <p:spPr>
          <a:xfrm>
            <a:off x="1234440" y="4160520"/>
            <a:ext cx="4663440" cy="1828800"/>
          </a:xfrm>
          <a:prstGeom prst="roundRect">
            <a:avLst>
              <a:gd name="adj" fmla="val 5000"/>
            </a:avLst>
          </a:prstGeom>
          <a:solidFill>
            <a:srgbClr val="FFFFFF"/>
          </a:solidFill>
          <a:ln w="12700" cap="flat" cmpd="sng">
            <a:solidFill>
              <a:srgbClr val="DEE4E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 name="Google Shape;98;p6"/>
          <p:cNvSpPr/>
          <p:nvPr/>
        </p:nvSpPr>
        <p:spPr>
          <a:xfrm>
            <a:off x="1463040" y="4343400"/>
            <a:ext cx="1005840" cy="9144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C9D8E8"/>
              </a:buClr>
              <a:buSzPts val="4000"/>
              <a:buFont typeface="Cambria"/>
              <a:buNone/>
            </a:pPr>
            <a:r>
              <a:rPr lang="en-US" sz="4000" b="1" i="0" u="none" strike="noStrike" cap="none">
                <a:solidFill>
                  <a:srgbClr val="C9D8E8"/>
                </a:solidFill>
                <a:latin typeface="Cambria"/>
                <a:ea typeface="Cambria"/>
                <a:cs typeface="Cambria"/>
                <a:sym typeface="Cambria"/>
              </a:rPr>
              <a:t>03</a:t>
            </a:r>
            <a:endParaRPr sz="4000" b="0" i="0" u="none" strike="noStrike" cap="none">
              <a:solidFill>
                <a:schemeClr val="dk1"/>
              </a:solidFill>
              <a:latin typeface="Calibri"/>
              <a:ea typeface="Calibri"/>
              <a:cs typeface="Calibri"/>
              <a:sym typeface="Calibri"/>
            </a:endParaRPr>
          </a:p>
        </p:txBody>
      </p:sp>
      <p:sp>
        <p:nvSpPr>
          <p:cNvPr id="99" name="Google Shape;99;p6"/>
          <p:cNvSpPr/>
          <p:nvPr/>
        </p:nvSpPr>
        <p:spPr>
          <a:xfrm>
            <a:off x="2423160" y="4389120"/>
            <a:ext cx="3291840" cy="13716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B1F3B"/>
              </a:buClr>
              <a:buSzPts val="1300"/>
              <a:buFont typeface="Calibri"/>
              <a:buNone/>
            </a:pPr>
            <a:r>
              <a:rPr sz="1400" b="0">
                <a:solidFill>
                  <a:srgbClr val="232323"/>
                </a:solidFill>
              </a:rPr>
              <a:t>Compare team and player performance across seasons, phases and match situations.</a:t>
            </a:r>
            <a:endParaRPr sz="1300" b="0" i="0" u="none" strike="noStrike" cap="none">
              <a:solidFill>
                <a:schemeClr val="dk1"/>
              </a:solidFill>
              <a:latin typeface="Calibri"/>
              <a:ea typeface="Calibri"/>
              <a:cs typeface="Calibri"/>
              <a:sym typeface="Calibri"/>
            </a:endParaRPr>
          </a:p>
        </p:txBody>
      </p:sp>
      <p:sp>
        <p:nvSpPr>
          <p:cNvPr id="100" name="Google Shape;100;p6"/>
          <p:cNvSpPr/>
          <p:nvPr/>
        </p:nvSpPr>
        <p:spPr>
          <a:xfrm>
            <a:off x="6355080" y="4160520"/>
            <a:ext cx="4663440" cy="1828800"/>
          </a:xfrm>
          <a:prstGeom prst="roundRect">
            <a:avLst>
              <a:gd name="adj" fmla="val 5000"/>
            </a:avLst>
          </a:prstGeom>
          <a:solidFill>
            <a:srgbClr val="FFFFFF"/>
          </a:solidFill>
          <a:ln w="12700" cap="flat" cmpd="sng">
            <a:solidFill>
              <a:srgbClr val="DEE4E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1" name="Google Shape;101;p6"/>
          <p:cNvSpPr/>
          <p:nvPr/>
        </p:nvSpPr>
        <p:spPr>
          <a:xfrm>
            <a:off x="6583680" y="4343400"/>
            <a:ext cx="1005840" cy="9144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C9D8E8"/>
              </a:buClr>
              <a:buSzPts val="4000"/>
              <a:buFont typeface="Cambria"/>
              <a:buNone/>
            </a:pPr>
            <a:r>
              <a:rPr lang="en-US" sz="4000" b="1" i="0" u="none" strike="noStrike" cap="none">
                <a:solidFill>
                  <a:srgbClr val="C9D8E8"/>
                </a:solidFill>
                <a:latin typeface="Cambria"/>
                <a:ea typeface="Cambria"/>
                <a:cs typeface="Cambria"/>
                <a:sym typeface="Cambria"/>
              </a:rPr>
              <a:t>04</a:t>
            </a:r>
            <a:endParaRPr sz="4000" b="0" i="0" u="none" strike="noStrike" cap="none">
              <a:solidFill>
                <a:schemeClr val="dk1"/>
              </a:solidFill>
              <a:latin typeface="Calibri"/>
              <a:ea typeface="Calibri"/>
              <a:cs typeface="Calibri"/>
              <a:sym typeface="Calibri"/>
            </a:endParaRPr>
          </a:p>
        </p:txBody>
      </p:sp>
      <p:sp>
        <p:nvSpPr>
          <p:cNvPr id="102" name="Google Shape;102;p6"/>
          <p:cNvSpPr/>
          <p:nvPr/>
        </p:nvSpPr>
        <p:spPr>
          <a:xfrm>
            <a:off x="7543800" y="4389120"/>
            <a:ext cx="3291840" cy="13716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B1F3B"/>
              </a:buClr>
              <a:buSzPts val="1300"/>
              <a:buFont typeface="Calibri"/>
              <a:buNone/>
            </a:pPr>
            <a:r>
              <a:rPr sz="1400" b="0">
                <a:solidFill>
                  <a:srgbClr val="232323"/>
                </a:solidFill>
              </a:rPr>
              <a:t>Create clear visualizations/dashboard views that communicate actionable insights.</a:t>
            </a:r>
            <a:endParaRPr sz="1300" b="0" i="0" u="none" strike="noStrike" cap="none">
              <a:solidFill>
                <a:schemeClr val="dk1"/>
              </a:solidFill>
              <a:latin typeface="Calibri"/>
              <a:ea typeface="Calibri"/>
              <a:cs typeface="Calibri"/>
              <a:sym typeface="Calibri"/>
            </a:endParaRPr>
          </a:p>
        </p:txBody>
      </p:sp>
      <p:sp>
        <p:nvSpPr>
          <p:cNvPr id="103" name="Google Shape;103;p6"/>
          <p:cNvSpPr/>
          <p:nvPr/>
        </p:nvSpPr>
        <p:spPr>
          <a:xfrm>
            <a:off x="502920" y="6519672"/>
            <a:ext cx="7315200" cy="27432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6B7593"/>
              </a:buClr>
              <a:buSzPts val="900"/>
              <a:buFont typeface="Calibri"/>
              <a:buNone/>
            </a:pPr>
            <a:r>
              <a:rPr sz="900"/>
              <a:t>BCC351  ·  B.TECH SECOND YEAR MINI PROJECT PRESENTATION</a:t>
            </a:r>
            <a:endParaRPr sz="900" b="0" i="0" u="none" strike="noStrike" cap="none">
              <a:solidFill>
                <a:schemeClr val="dk1"/>
              </a:solidFill>
              <a:latin typeface="Calibri"/>
              <a:ea typeface="Calibri"/>
              <a:cs typeface="Calibri"/>
              <a:sym typeface="Calibri"/>
            </a:endParaRPr>
          </a:p>
        </p:txBody>
      </p:sp>
      <p:sp>
        <p:nvSpPr>
          <p:cNvPr id="104" name="Google Shape;104;p6"/>
          <p:cNvSpPr/>
          <p:nvPr/>
        </p:nvSpPr>
        <p:spPr>
          <a:xfrm>
            <a:off x="11228832" y="6519672"/>
            <a:ext cx="457200" cy="27432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6B7593"/>
              </a:buClr>
              <a:buSzPts val="900"/>
              <a:buFont typeface="Calibri"/>
              <a:buNone/>
            </a:pPr>
            <a:r>
              <a:rPr sz="900"/>
              <a:t>4</a:t>
            </a:r>
            <a:endParaRPr sz="900" b="0" i="0" u="none" strike="noStrike" cap="non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Shape 109"/>
        <p:cNvGrpSpPr/>
        <p:nvPr/>
      </p:nvGrpSpPr>
      <p:grpSpPr>
        <a:xfrm>
          <a:off x="0" y="0"/>
          <a:ext cx="0" cy="0"/>
          <a:chOff x="0" y="0"/>
          <a:chExt cx="0" cy="0"/>
        </a:xfrm>
      </p:grpSpPr>
      <p:sp>
        <p:nvSpPr>
          <p:cNvPr id="110" name="Google Shape;110;p7"/>
          <p:cNvSpPr/>
          <p:nvPr/>
        </p:nvSpPr>
        <p:spPr>
          <a:xfrm>
            <a:off x="-1097280" y="5669280"/>
            <a:ext cx="2194560" cy="2194560"/>
          </a:xfrm>
          <a:prstGeom prst="ellipse">
            <a:avLst/>
          </a:prstGeom>
          <a:solidFill>
            <a:srgbClr val="21295C">
              <a:alpha val="5098"/>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1" name="Google Shape;111;p7"/>
          <p:cNvSpPr/>
          <p:nvPr/>
        </p:nvSpPr>
        <p:spPr>
          <a:xfrm>
            <a:off x="502920" y="457200"/>
            <a:ext cx="530352" cy="530352"/>
          </a:xfrm>
          <a:prstGeom prst="roundRect">
            <a:avLst>
              <a:gd name="adj" fmla="val 20690"/>
            </a:avLst>
          </a:prstGeom>
          <a:solidFill>
            <a:srgbClr val="21295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2" name="Google Shape;112;p7"/>
          <p:cNvSpPr/>
          <p:nvPr/>
        </p:nvSpPr>
        <p:spPr>
          <a:xfrm>
            <a:off x="502920" y="457200"/>
            <a:ext cx="530352" cy="530352"/>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600"/>
              <a:buFont typeface="Calibri"/>
              <a:buNone/>
            </a:pPr>
            <a:r>
              <a:rPr lang="en-US" sz="1600" b="1" i="0" u="none" strike="noStrike" cap="none">
                <a:solidFill>
                  <a:srgbClr val="FFFFFF"/>
                </a:solidFill>
                <a:latin typeface="Calibri"/>
                <a:ea typeface="Calibri"/>
                <a:cs typeface="Calibri"/>
                <a:sym typeface="Calibri"/>
              </a:rPr>
              <a:t>04</a:t>
            </a:r>
            <a:endParaRPr sz="1600" b="0" i="0" u="none" strike="noStrike" cap="none">
              <a:solidFill>
                <a:schemeClr val="dk1"/>
              </a:solidFill>
              <a:latin typeface="Calibri"/>
              <a:ea typeface="Calibri"/>
              <a:cs typeface="Calibri"/>
              <a:sym typeface="Calibri"/>
            </a:endParaRPr>
          </a:p>
        </p:txBody>
      </p:sp>
      <p:sp>
        <p:nvSpPr>
          <p:cNvPr id="113" name="Google Shape;113;p7"/>
          <p:cNvSpPr/>
          <p:nvPr/>
        </p:nvSpPr>
        <p:spPr>
          <a:xfrm>
            <a:off x="1234440" y="429768"/>
            <a:ext cx="8686800" cy="27432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C7293"/>
              </a:buClr>
              <a:buSzPts val="1100"/>
              <a:buFont typeface="Calibri"/>
              <a:buNone/>
            </a:pPr>
            <a:r>
              <a:rPr lang="en-US" sz="1100" b="1" i="0" u="none" strike="noStrike" cap="none">
                <a:solidFill>
                  <a:srgbClr val="1C7293"/>
                </a:solidFill>
                <a:latin typeface="Calibri"/>
                <a:ea typeface="Calibri"/>
                <a:cs typeface="Calibri"/>
                <a:sym typeface="Calibri"/>
              </a:rPr>
              <a:t>SECTION 04</a:t>
            </a:r>
            <a:endParaRPr sz="1100" b="0" i="0" u="none" strike="noStrike" cap="none">
              <a:solidFill>
                <a:schemeClr val="dk1"/>
              </a:solidFill>
              <a:latin typeface="Calibri"/>
              <a:ea typeface="Calibri"/>
              <a:cs typeface="Calibri"/>
              <a:sym typeface="Calibri"/>
            </a:endParaRPr>
          </a:p>
        </p:txBody>
      </p:sp>
      <p:sp>
        <p:nvSpPr>
          <p:cNvPr id="114" name="Google Shape;114;p7"/>
          <p:cNvSpPr/>
          <p:nvPr/>
        </p:nvSpPr>
        <p:spPr>
          <a:xfrm>
            <a:off x="1234440" y="676656"/>
            <a:ext cx="9692640" cy="566928"/>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21295C"/>
              </a:buClr>
              <a:buSzPts val="3000"/>
              <a:buFont typeface="Cambria"/>
              <a:buNone/>
            </a:pPr>
            <a:r>
              <a:rPr lang="en-US" sz="3000" b="1" i="0" u="none" strike="noStrike" cap="none">
                <a:solidFill>
                  <a:srgbClr val="21295C"/>
                </a:solidFill>
                <a:latin typeface="Cambria"/>
                <a:ea typeface="Cambria"/>
                <a:cs typeface="Cambria"/>
                <a:sym typeface="Cambria"/>
              </a:rPr>
              <a:t>Technology Stack</a:t>
            </a:r>
            <a:endParaRPr sz="3000" b="0" i="0" u="none" strike="noStrike" cap="none">
              <a:solidFill>
                <a:schemeClr val="dk1"/>
              </a:solidFill>
              <a:latin typeface="Calibri"/>
              <a:ea typeface="Calibri"/>
              <a:cs typeface="Calibri"/>
              <a:sym typeface="Calibri"/>
            </a:endParaRPr>
          </a:p>
        </p:txBody>
      </p:sp>
      <p:sp>
        <p:nvSpPr>
          <p:cNvPr id="115" name="Google Shape;115;p7"/>
          <p:cNvSpPr/>
          <p:nvPr/>
        </p:nvSpPr>
        <p:spPr>
          <a:xfrm>
            <a:off x="1234475" y="1543875"/>
            <a:ext cx="9849000" cy="4445400"/>
          </a:xfrm>
          <a:prstGeom prst="roundRect">
            <a:avLst>
              <a:gd name="adj" fmla="val 2817"/>
            </a:avLst>
          </a:prstGeom>
          <a:solidFill>
            <a:srgbClr val="FFFFFF"/>
          </a:solidFill>
          <a:ln w="12700" cap="flat" cmpd="sng">
            <a:solidFill>
              <a:srgbClr val="DEE4E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 name="Google Shape;116;p7"/>
          <p:cNvSpPr/>
          <p:nvPr/>
        </p:nvSpPr>
        <p:spPr>
          <a:xfrm>
            <a:off x="502920" y="6519672"/>
            <a:ext cx="7315200" cy="27432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6B7593"/>
              </a:buClr>
              <a:buSzPts val="900"/>
              <a:buFont typeface="Calibri"/>
              <a:buNone/>
            </a:pPr>
            <a:r>
              <a:rPr sz="900"/>
              <a:t>BCC351  ·  B.TECH SECOND YEAR MINI PROJECT PRESENTATION</a:t>
            </a:r>
            <a:endParaRPr sz="900" b="0" i="0" u="none" strike="noStrike" cap="none">
              <a:solidFill>
                <a:schemeClr val="dk1"/>
              </a:solidFill>
              <a:latin typeface="Calibri"/>
              <a:ea typeface="Calibri"/>
              <a:cs typeface="Calibri"/>
              <a:sym typeface="Calibri"/>
            </a:endParaRPr>
          </a:p>
        </p:txBody>
      </p:sp>
      <p:sp>
        <p:nvSpPr>
          <p:cNvPr id="117" name="Google Shape;117;p7"/>
          <p:cNvSpPr/>
          <p:nvPr/>
        </p:nvSpPr>
        <p:spPr>
          <a:xfrm>
            <a:off x="11228832" y="6519672"/>
            <a:ext cx="457200" cy="27432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6B7593"/>
              </a:buClr>
              <a:buSzPts val="900"/>
              <a:buFont typeface="Calibri"/>
              <a:buNone/>
            </a:pPr>
            <a:r>
              <a:rPr sz="900"/>
              <a:t>5</a:t>
            </a:r>
            <a:endParaRPr sz="900" b="0" i="0" u="none" strike="noStrike" cap="none">
              <a:solidFill>
                <a:schemeClr val="dk1"/>
              </a:solidFill>
              <a:latin typeface="Calibri"/>
              <a:ea typeface="Calibri"/>
              <a:cs typeface="Calibri"/>
              <a:sym typeface="Calibri"/>
            </a:endParaRPr>
          </a:p>
        </p:txBody>
      </p:sp>
      <p:sp>
        <p:nvSpPr>
          <p:cNvPr id="118" name="Rounded Rectangle 117"/>
          <p:cNvSpPr/>
          <p:nvPr/>
        </p:nvSpPr>
        <p:spPr>
          <a:xfrm>
            <a:off x="1417320" y="1508760"/>
            <a:ext cx="4572000" cy="1143000"/>
          </a:xfrm>
          <a:prstGeom prst="roundRect">
            <a:avLst/>
          </a:prstGeom>
          <a:solidFill>
            <a:srgbClr val="F6F8F7"/>
          </a:solidFill>
          <a:ln>
            <a:solidFill>
              <a:srgbClr val="00875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1E1E1E"/>
                </a:solidFill>
              </a:rPr>
              <a:t>Python</a:t>
            </a:r>
          </a:p>
          <a:p>
            <a:pPr>
              <a:defRPr sz="1050">
                <a:solidFill>
                  <a:srgbClr val="505050"/>
                </a:solidFill>
              </a:defRPr>
            </a:pPr>
            <a:r>
              <a:t>Core analysis and data-processing language</a:t>
            </a:r>
          </a:p>
        </p:txBody>
      </p:sp>
      <p:sp>
        <p:nvSpPr>
          <p:cNvPr id="119" name="Rounded Rectangle 118"/>
          <p:cNvSpPr/>
          <p:nvPr/>
        </p:nvSpPr>
        <p:spPr>
          <a:xfrm>
            <a:off x="6492240" y="1508760"/>
            <a:ext cx="4572000" cy="1143000"/>
          </a:xfrm>
          <a:prstGeom prst="roundRect">
            <a:avLst/>
          </a:prstGeom>
          <a:solidFill>
            <a:srgbClr val="F6F8F7"/>
          </a:solidFill>
          <a:ln>
            <a:solidFill>
              <a:srgbClr val="00875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1E1E1E"/>
                </a:solidFill>
              </a:rPr>
              <a:t>Pandas + NumPy</a:t>
            </a:r>
          </a:p>
          <a:p>
            <a:pPr>
              <a:defRPr sz="1050">
                <a:solidFill>
                  <a:srgbClr val="505050"/>
                </a:solidFill>
              </a:defRPr>
            </a:pPr>
            <a:r>
              <a:t>Data cleaning, transformation and statistical computation</a:t>
            </a:r>
          </a:p>
        </p:txBody>
      </p:sp>
      <p:sp>
        <p:nvSpPr>
          <p:cNvPr id="120" name="Rounded Rectangle 119"/>
          <p:cNvSpPr/>
          <p:nvPr/>
        </p:nvSpPr>
        <p:spPr>
          <a:xfrm>
            <a:off x="1417320" y="2926080"/>
            <a:ext cx="4572000" cy="1143000"/>
          </a:xfrm>
          <a:prstGeom prst="roundRect">
            <a:avLst/>
          </a:prstGeom>
          <a:solidFill>
            <a:srgbClr val="F6F8F7"/>
          </a:solidFill>
          <a:ln>
            <a:solidFill>
              <a:srgbClr val="00875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1E1E1E"/>
                </a:solidFill>
              </a:rPr>
              <a:t>Matplotlib + Seaborn</a:t>
            </a:r>
          </a:p>
          <a:p>
            <a:pPr>
              <a:defRPr sz="1050">
                <a:solidFill>
                  <a:srgbClr val="505050"/>
                </a:solidFill>
              </a:defRPr>
            </a:pPr>
            <a:r>
              <a:t>Exploratory analysis and performance visualizations</a:t>
            </a:r>
          </a:p>
        </p:txBody>
      </p:sp>
      <p:sp>
        <p:nvSpPr>
          <p:cNvPr id="121" name="Rounded Rectangle 120"/>
          <p:cNvSpPr/>
          <p:nvPr/>
        </p:nvSpPr>
        <p:spPr>
          <a:xfrm>
            <a:off x="6492240" y="2926080"/>
            <a:ext cx="4572000" cy="1143000"/>
          </a:xfrm>
          <a:prstGeom prst="roundRect">
            <a:avLst/>
          </a:prstGeom>
          <a:solidFill>
            <a:srgbClr val="F6F8F7"/>
          </a:solidFill>
          <a:ln>
            <a:solidFill>
              <a:srgbClr val="00875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1E1E1E"/>
                </a:solidFill>
              </a:rPr>
              <a:t>Power BI</a:t>
            </a:r>
          </a:p>
          <a:p>
            <a:pPr>
              <a:defRPr sz="1050">
                <a:solidFill>
                  <a:srgbClr val="505050"/>
                </a:solidFill>
              </a:defRPr>
            </a:pPr>
            <a:r>
              <a:t>Interactive dashboard and KPI presentation</a:t>
            </a:r>
          </a:p>
        </p:txBody>
      </p:sp>
      <p:sp>
        <p:nvSpPr>
          <p:cNvPr id="122" name="Rounded Rectangle 121"/>
          <p:cNvSpPr/>
          <p:nvPr/>
        </p:nvSpPr>
        <p:spPr>
          <a:xfrm>
            <a:off x="1417320" y="4343400"/>
            <a:ext cx="4572000" cy="1143000"/>
          </a:xfrm>
          <a:prstGeom prst="roundRect">
            <a:avLst/>
          </a:prstGeom>
          <a:solidFill>
            <a:srgbClr val="F6F8F7"/>
          </a:solidFill>
          <a:ln>
            <a:solidFill>
              <a:srgbClr val="00875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1E1E1E"/>
                </a:solidFill>
              </a:rPr>
              <a:t>Jupyter Notebook</a:t>
            </a:r>
          </a:p>
          <a:p>
            <a:pPr>
              <a:defRPr sz="1050">
                <a:solidFill>
                  <a:srgbClr val="505050"/>
                </a:solidFill>
              </a:defRPr>
            </a:pPr>
            <a:r>
              <a:t>Exploration, experimentation and reproducible analysis</a:t>
            </a:r>
          </a:p>
        </p:txBody>
      </p:sp>
      <p:sp>
        <p:nvSpPr>
          <p:cNvPr id="123" name="Rounded Rectangle 122"/>
          <p:cNvSpPr/>
          <p:nvPr/>
        </p:nvSpPr>
        <p:spPr>
          <a:xfrm>
            <a:off x="6492240" y="4343400"/>
            <a:ext cx="4572000" cy="1143000"/>
          </a:xfrm>
          <a:prstGeom prst="roundRect">
            <a:avLst/>
          </a:prstGeom>
          <a:solidFill>
            <a:srgbClr val="F6F8F7"/>
          </a:solidFill>
          <a:ln>
            <a:solidFill>
              <a:srgbClr val="00875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1E1E1E"/>
                </a:solidFill>
              </a:rPr>
              <a:t>CSV Dataset</a:t>
            </a:r>
          </a:p>
          <a:p>
            <a:pPr>
              <a:defRPr sz="1050">
                <a:solidFill>
                  <a:srgbClr val="505050"/>
                </a:solidFill>
              </a:defRPr>
            </a:pPr>
            <a:r>
              <a:t>Ball-by-ball IPL data: 278,205 deliveries, 1,169 matches</a:t>
            </a:r>
          </a:p>
        </p:txBody>
      </p:sp>
      <p:sp>
        <p:nvSpPr>
          <p:cNvPr id="124" name="TextBox 123"/>
          <p:cNvSpPr txBox="1"/>
          <p:nvPr/>
        </p:nvSpPr>
        <p:spPr>
          <a:xfrm>
            <a:off x="1417320" y="5559552"/>
            <a:ext cx="9784080" cy="384048"/>
          </a:xfrm>
          <a:prstGeom prst="rect">
            <a:avLst/>
          </a:prstGeom>
          <a:noFill/>
        </p:spPr>
        <p:txBody>
          <a:bodyPr wrap="square" anchor="ctr">
            <a:spAutoFit/>
          </a:bodyPr>
          <a:lstStyle/>
          <a:p>
            <a:pPr algn="l"/>
            <a:r>
              <a:rPr sz="1050" b="1">
                <a:solidFill>
                  <a:srgbClr val="505050"/>
                </a:solidFill>
              </a:rPr>
              <a:t>Scope: descriptive analytics and visualization based on the supplied ball-by-ball dataset.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Shape 122"/>
        <p:cNvGrpSpPr/>
        <p:nvPr/>
      </p:nvGrpSpPr>
      <p:grpSpPr>
        <a:xfrm>
          <a:off x="0" y="0"/>
          <a:ext cx="0" cy="0"/>
          <a:chOff x="0" y="0"/>
          <a:chExt cx="0" cy="0"/>
        </a:xfrm>
      </p:grpSpPr>
      <p:sp>
        <p:nvSpPr>
          <p:cNvPr id="123" name="Google Shape;123;p8"/>
          <p:cNvSpPr/>
          <p:nvPr/>
        </p:nvSpPr>
        <p:spPr>
          <a:xfrm>
            <a:off x="10424160" y="-1463040"/>
            <a:ext cx="3108960" cy="3108960"/>
          </a:xfrm>
          <a:prstGeom prst="ellipse">
            <a:avLst/>
          </a:prstGeom>
          <a:solidFill>
            <a:srgbClr val="1C7293">
              <a:alpha val="7843"/>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 name="Google Shape;124;p8"/>
          <p:cNvSpPr/>
          <p:nvPr/>
        </p:nvSpPr>
        <p:spPr>
          <a:xfrm>
            <a:off x="-1097280" y="5669280"/>
            <a:ext cx="2194560" cy="2194560"/>
          </a:xfrm>
          <a:prstGeom prst="ellipse">
            <a:avLst/>
          </a:prstGeom>
          <a:solidFill>
            <a:srgbClr val="21295C">
              <a:alpha val="5098"/>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5" name="Google Shape;125;p8"/>
          <p:cNvSpPr/>
          <p:nvPr/>
        </p:nvSpPr>
        <p:spPr>
          <a:xfrm>
            <a:off x="502920" y="457200"/>
            <a:ext cx="530352" cy="530352"/>
          </a:xfrm>
          <a:prstGeom prst="roundRect">
            <a:avLst>
              <a:gd name="adj" fmla="val 20690"/>
            </a:avLst>
          </a:prstGeom>
          <a:solidFill>
            <a:srgbClr val="21295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6" name="Google Shape;126;p8"/>
          <p:cNvSpPr/>
          <p:nvPr/>
        </p:nvSpPr>
        <p:spPr>
          <a:xfrm>
            <a:off x="502920" y="457200"/>
            <a:ext cx="530352" cy="530352"/>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600"/>
              <a:buFont typeface="Calibri"/>
              <a:buNone/>
            </a:pPr>
            <a:r>
              <a:rPr lang="en-US" sz="1600" b="1" i="0" u="none" strike="noStrike" cap="none">
                <a:solidFill>
                  <a:srgbClr val="FFFFFF"/>
                </a:solidFill>
                <a:latin typeface="Calibri"/>
                <a:ea typeface="Calibri"/>
                <a:cs typeface="Calibri"/>
                <a:sym typeface="Calibri"/>
              </a:rPr>
              <a:t>05</a:t>
            </a:r>
            <a:endParaRPr sz="1600" b="0" i="0" u="none" strike="noStrike" cap="none">
              <a:solidFill>
                <a:schemeClr val="dk1"/>
              </a:solidFill>
              <a:latin typeface="Calibri"/>
              <a:ea typeface="Calibri"/>
              <a:cs typeface="Calibri"/>
              <a:sym typeface="Calibri"/>
            </a:endParaRPr>
          </a:p>
        </p:txBody>
      </p:sp>
      <p:sp>
        <p:nvSpPr>
          <p:cNvPr id="127" name="Google Shape;127;p8"/>
          <p:cNvSpPr/>
          <p:nvPr/>
        </p:nvSpPr>
        <p:spPr>
          <a:xfrm>
            <a:off x="1234440" y="429768"/>
            <a:ext cx="8686800" cy="27432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C7293"/>
              </a:buClr>
              <a:buSzPts val="1100"/>
              <a:buFont typeface="Calibri"/>
              <a:buNone/>
            </a:pPr>
            <a:r>
              <a:rPr lang="en-US" sz="1100" b="1" i="0" u="none" strike="noStrike" cap="none">
                <a:solidFill>
                  <a:srgbClr val="1C7293"/>
                </a:solidFill>
                <a:latin typeface="Calibri"/>
                <a:ea typeface="Calibri"/>
                <a:cs typeface="Calibri"/>
                <a:sym typeface="Calibri"/>
              </a:rPr>
              <a:t>SECTION 05</a:t>
            </a:r>
            <a:endParaRPr sz="1100" b="0" i="0" u="none" strike="noStrike" cap="none">
              <a:solidFill>
                <a:schemeClr val="dk1"/>
              </a:solidFill>
              <a:latin typeface="Calibri"/>
              <a:ea typeface="Calibri"/>
              <a:cs typeface="Calibri"/>
              <a:sym typeface="Calibri"/>
            </a:endParaRPr>
          </a:p>
        </p:txBody>
      </p:sp>
      <p:sp>
        <p:nvSpPr>
          <p:cNvPr id="128" name="Google Shape;128;p8"/>
          <p:cNvSpPr/>
          <p:nvPr/>
        </p:nvSpPr>
        <p:spPr>
          <a:xfrm>
            <a:off x="1234440" y="676656"/>
            <a:ext cx="9692640" cy="566928"/>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21295C"/>
              </a:buClr>
              <a:buSzPts val="3000"/>
              <a:buFont typeface="Cambria"/>
              <a:buNone/>
            </a:pPr>
            <a:r>
              <a:rPr lang="en-US" sz="3000" b="1" i="0" u="none" strike="noStrike" cap="none">
                <a:solidFill>
                  <a:srgbClr val="21295C"/>
                </a:solidFill>
                <a:latin typeface="Cambria"/>
                <a:ea typeface="Cambria"/>
                <a:cs typeface="Cambria"/>
                <a:sym typeface="Cambria"/>
              </a:rPr>
              <a:t>Literature Survey</a:t>
            </a:r>
            <a:endParaRPr sz="3000" b="0" i="0" u="none" strike="noStrike" cap="none">
              <a:solidFill>
                <a:schemeClr val="dk1"/>
              </a:solidFill>
              <a:latin typeface="Calibri"/>
              <a:ea typeface="Calibri"/>
              <a:cs typeface="Calibri"/>
              <a:sym typeface="Calibri"/>
            </a:endParaRPr>
          </a:p>
        </p:txBody>
      </p:sp>
      <p:sp>
        <p:nvSpPr>
          <p:cNvPr id="130" name="Google Shape;130;p8"/>
          <p:cNvSpPr/>
          <p:nvPr/>
        </p:nvSpPr>
        <p:spPr>
          <a:xfrm>
            <a:off x="502920" y="6519672"/>
            <a:ext cx="7315200" cy="27432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6B7593"/>
              </a:buClr>
              <a:buSzPts val="900"/>
              <a:buFont typeface="Calibri"/>
              <a:buNone/>
            </a:pPr>
            <a:r>
              <a:rPr sz="900"/>
              <a:t>BCC351  ·  B.TECH SECOND YEAR MINI PROJECT PRESENTATION</a:t>
            </a:r>
            <a:endParaRPr sz="900" b="0" i="0" u="none" strike="noStrike" cap="none">
              <a:solidFill>
                <a:schemeClr val="dk1"/>
              </a:solidFill>
              <a:latin typeface="Calibri"/>
              <a:ea typeface="Calibri"/>
              <a:cs typeface="Calibri"/>
              <a:sym typeface="Calibri"/>
            </a:endParaRPr>
          </a:p>
        </p:txBody>
      </p:sp>
      <p:sp>
        <p:nvSpPr>
          <p:cNvPr id="131" name="Google Shape;131;p8"/>
          <p:cNvSpPr/>
          <p:nvPr/>
        </p:nvSpPr>
        <p:spPr>
          <a:xfrm>
            <a:off x="11228832" y="6519672"/>
            <a:ext cx="457200" cy="27432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6B7593"/>
              </a:buClr>
              <a:buSzPts val="900"/>
              <a:buFont typeface="Calibri"/>
              <a:buNone/>
            </a:pPr>
            <a:r>
              <a:rPr sz="900"/>
              <a:t>6</a:t>
            </a:r>
            <a:endParaRPr sz="900" b="0" i="0" u="none" strike="noStrike" cap="none">
              <a:solidFill>
                <a:schemeClr val="dk1"/>
              </a:solidFill>
              <a:latin typeface="Calibri"/>
              <a:ea typeface="Calibri"/>
              <a:cs typeface="Calibri"/>
              <a:sym typeface="Calibri"/>
            </a:endParaRPr>
          </a:p>
        </p:txBody>
      </p:sp>
      <p:graphicFrame>
        <p:nvGraphicFramePr>
          <p:cNvPr id="132" name="Table 131"/>
          <p:cNvGraphicFramePr>
            <a:graphicFrameLocks noGrp="1"/>
          </p:cNvGraphicFramePr>
          <p:nvPr/>
        </p:nvGraphicFramePr>
        <p:xfrm>
          <a:off x="594360" y="1417320"/>
          <a:ext cx="10972800" cy="4526280"/>
        </p:xfrm>
        <a:graphic>
          <a:graphicData uri="http://schemas.openxmlformats.org/drawingml/2006/table">
            <a:tbl>
              <a:tblPr firstRow="1" bandRow="1">
                <a:tableStyleId>{5C22544A-7EE6-4342-B048-85BDC9FD1C3A}</a:tableStyleId>
              </a:tblPr>
              <a:tblGrid>
                <a:gridCol w="502920">
                  <a:extLst>
                    <a:ext uri="{9D8B030D-6E8A-4147-A177-3AD203B41FA5}">
                      <a16:colId xmlns:a16="http://schemas.microsoft.com/office/drawing/2014/main" val="20000"/>
                    </a:ext>
                  </a:extLst>
                </a:gridCol>
                <a:gridCol w="288036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gridCol w="1691640">
                  <a:extLst>
                    <a:ext uri="{9D8B030D-6E8A-4147-A177-3AD203B41FA5}">
                      <a16:colId xmlns:a16="http://schemas.microsoft.com/office/drawing/2014/main" val="20003"/>
                    </a:ext>
                  </a:extLst>
                </a:gridCol>
                <a:gridCol w="4297680">
                  <a:extLst>
                    <a:ext uri="{9D8B030D-6E8A-4147-A177-3AD203B41FA5}">
                      <a16:colId xmlns:a16="http://schemas.microsoft.com/office/drawing/2014/main" val="20004"/>
                    </a:ext>
                  </a:extLst>
                </a:gridCol>
              </a:tblGrid>
              <a:tr h="905256">
                <a:tc>
                  <a:txBody>
                    <a:bodyPr/>
                    <a:lstStyle/>
                    <a:p>
                      <a:pPr algn="ctr"/>
                      <a:r>
                        <a:rPr sz="1000" b="1">
                          <a:solidFill>
                            <a:srgbClr val="FFFFFF"/>
                          </a:solidFill>
                        </a:rPr>
                        <a:t>S.No</a:t>
                      </a:r>
                    </a:p>
                  </a:txBody>
                  <a:tcPr>
                    <a:solidFill>
                      <a:srgbClr val="1E5F4B"/>
                    </a:solidFill>
                  </a:tcPr>
                </a:tc>
                <a:tc>
                  <a:txBody>
                    <a:bodyPr/>
                    <a:lstStyle/>
                    <a:p>
                      <a:pPr algn="ctr"/>
                      <a:r>
                        <a:rPr sz="1000" b="1">
                          <a:solidFill>
                            <a:srgbClr val="FFFFFF"/>
                          </a:solidFill>
                        </a:rPr>
                        <a:t>Paper Title</a:t>
                      </a:r>
                    </a:p>
                  </a:txBody>
                  <a:tcPr>
                    <a:solidFill>
                      <a:srgbClr val="1E5F4B"/>
                    </a:solidFill>
                  </a:tcPr>
                </a:tc>
                <a:tc>
                  <a:txBody>
                    <a:bodyPr/>
                    <a:lstStyle/>
                    <a:p>
                      <a:pPr algn="ctr"/>
                      <a:r>
                        <a:rPr sz="1000" b="1">
                          <a:solidFill>
                            <a:srgbClr val="FFFFFF"/>
                          </a:solidFill>
                        </a:rPr>
                        <a:t>Author(s)</a:t>
                      </a:r>
                    </a:p>
                  </a:txBody>
                  <a:tcPr>
                    <a:solidFill>
                      <a:srgbClr val="1E5F4B"/>
                    </a:solidFill>
                  </a:tcPr>
                </a:tc>
                <a:tc>
                  <a:txBody>
                    <a:bodyPr/>
                    <a:lstStyle/>
                    <a:p>
                      <a:pPr algn="ctr"/>
                      <a:r>
                        <a:rPr sz="1000" b="1">
                          <a:solidFill>
                            <a:srgbClr val="FFFFFF"/>
                          </a:solidFill>
                        </a:rPr>
                        <a:t>Journal / Year</a:t>
                      </a:r>
                    </a:p>
                  </a:txBody>
                  <a:tcPr>
                    <a:solidFill>
                      <a:srgbClr val="1E5F4B"/>
                    </a:solidFill>
                  </a:tcPr>
                </a:tc>
                <a:tc>
                  <a:txBody>
                    <a:bodyPr/>
                    <a:lstStyle/>
                    <a:p>
                      <a:pPr algn="ctr"/>
                      <a:r>
                        <a:rPr sz="1000" b="1">
                          <a:solidFill>
                            <a:srgbClr val="FFFFFF"/>
                          </a:solidFill>
                        </a:rPr>
                        <a:t>Key Findings</a:t>
                      </a:r>
                    </a:p>
                  </a:txBody>
                  <a:tcPr>
                    <a:solidFill>
                      <a:srgbClr val="1E5F4B"/>
                    </a:solidFill>
                  </a:tcPr>
                </a:tc>
                <a:extLst>
                  <a:ext uri="{0D108BD9-81ED-4DB2-BD59-A6C34878D82A}">
                    <a16:rowId xmlns:a16="http://schemas.microsoft.com/office/drawing/2014/main" val="10000"/>
                  </a:ext>
                </a:extLst>
              </a:tr>
              <a:tr h="905256">
                <a:tc>
                  <a:txBody>
                    <a:bodyPr/>
                    <a:lstStyle/>
                    <a:p>
                      <a:pPr algn="ctr"/>
                      <a:r>
                        <a:rPr sz="840" b="1">
                          <a:solidFill>
                            <a:srgbClr val="2D2D2D"/>
                          </a:solidFill>
                        </a:rPr>
                        <a:t>[1]</a:t>
                      </a:r>
                    </a:p>
                  </a:txBody>
                  <a:tcPr>
                    <a:solidFill>
                      <a:srgbClr val="FCFCFC"/>
                    </a:solidFill>
                  </a:tcPr>
                </a:tc>
                <a:tc>
                  <a:txBody>
                    <a:bodyPr/>
                    <a:lstStyle/>
                    <a:p>
                      <a:pPr algn="l"/>
                      <a:r>
                        <a:rPr sz="869">
                          <a:solidFill>
                            <a:srgbClr val="2D2D2D"/>
                          </a:solidFill>
                        </a:rPr>
                        <a:t>Analysis and Comparative Study of 10 Years Cricket Sports Data of IPL using R Programming</a:t>
                      </a:r>
                    </a:p>
                  </a:txBody>
                  <a:tcPr>
                    <a:solidFill>
                      <a:srgbClr val="FCFCFC"/>
                    </a:solidFill>
                  </a:tcPr>
                </a:tc>
                <a:tc>
                  <a:txBody>
                    <a:bodyPr/>
                    <a:lstStyle/>
                    <a:p>
                      <a:pPr algn="l"/>
                      <a:r>
                        <a:rPr sz="840">
                          <a:solidFill>
                            <a:srgbClr val="2D2D2D"/>
                          </a:solidFill>
                        </a:rPr>
                        <a:t>Parag C. Shukla; Hetal R. Thaker</a:t>
                      </a:r>
                    </a:p>
                  </a:txBody>
                  <a:tcPr>
                    <a:solidFill>
                      <a:srgbClr val="FCFCFC"/>
                    </a:solidFill>
                  </a:tcPr>
                </a:tc>
                <a:tc>
                  <a:txBody>
                    <a:bodyPr/>
                    <a:lstStyle/>
                    <a:p>
                      <a:pPr algn="l"/>
                      <a:r>
                        <a:rPr sz="840">
                          <a:solidFill>
                            <a:srgbClr val="2D2D2D"/>
                          </a:solidFill>
                        </a:rPr>
                        <a:t>IJCET, 2018</a:t>
                      </a:r>
                    </a:p>
                  </a:txBody>
                  <a:tcPr>
                    <a:solidFill>
                      <a:srgbClr val="FCFCFC"/>
                    </a:solidFill>
                  </a:tcPr>
                </a:tc>
                <a:tc>
                  <a:txBody>
                    <a:bodyPr/>
                    <a:lstStyle/>
                    <a:p>
                      <a:pPr algn="l"/>
                      <a:r>
                        <a:rPr sz="869">
                          <a:solidFill>
                            <a:srgbClr val="2D2D2D"/>
                          </a:solidFill>
                        </a:rPr>
                        <a:t>Compares IPL players, teams and fielding performance using historical sports data.</a:t>
                      </a:r>
                    </a:p>
                  </a:txBody>
                  <a:tcPr>
                    <a:solidFill>
                      <a:srgbClr val="FCFCFC"/>
                    </a:solidFill>
                  </a:tcPr>
                </a:tc>
                <a:extLst>
                  <a:ext uri="{0D108BD9-81ED-4DB2-BD59-A6C34878D82A}">
                    <a16:rowId xmlns:a16="http://schemas.microsoft.com/office/drawing/2014/main" val="10001"/>
                  </a:ext>
                </a:extLst>
              </a:tr>
              <a:tr h="905256">
                <a:tc>
                  <a:txBody>
                    <a:bodyPr/>
                    <a:lstStyle/>
                    <a:p>
                      <a:pPr algn="ctr"/>
                      <a:r>
                        <a:rPr sz="840" b="1">
                          <a:solidFill>
                            <a:srgbClr val="2D2D2D"/>
                          </a:solidFill>
                        </a:rPr>
                        <a:t>[2]</a:t>
                      </a:r>
                    </a:p>
                  </a:txBody>
                  <a:tcPr>
                    <a:solidFill>
                      <a:srgbClr val="F4F7F6"/>
                    </a:solidFill>
                  </a:tcPr>
                </a:tc>
                <a:tc>
                  <a:txBody>
                    <a:bodyPr/>
                    <a:lstStyle/>
                    <a:p>
                      <a:pPr algn="l"/>
                      <a:r>
                        <a:rPr sz="869">
                          <a:solidFill>
                            <a:srgbClr val="2D2D2D"/>
                          </a:solidFill>
                        </a:rPr>
                        <a:t>Data Analytics in the Game of Cricket: A Novel Paradigm</a:t>
                      </a:r>
                    </a:p>
                  </a:txBody>
                  <a:tcPr>
                    <a:solidFill>
                      <a:srgbClr val="F4F7F6"/>
                    </a:solidFill>
                  </a:tcPr>
                </a:tc>
                <a:tc>
                  <a:txBody>
                    <a:bodyPr/>
                    <a:lstStyle/>
                    <a:p>
                      <a:pPr algn="l"/>
                      <a:r>
                        <a:rPr sz="840">
                          <a:solidFill>
                            <a:srgbClr val="2D2D2D"/>
                          </a:solidFill>
                        </a:rPr>
                        <a:t>V. Vishwarupe et al.</a:t>
                      </a:r>
                    </a:p>
                  </a:txBody>
                  <a:tcPr>
                    <a:solidFill>
                      <a:srgbClr val="F4F7F6"/>
                    </a:solidFill>
                  </a:tcPr>
                </a:tc>
                <a:tc>
                  <a:txBody>
                    <a:bodyPr/>
                    <a:lstStyle/>
                    <a:p>
                      <a:pPr algn="l"/>
                      <a:r>
                        <a:rPr sz="840">
                          <a:solidFill>
                            <a:srgbClr val="2D2D2D"/>
                          </a:solidFill>
                        </a:rPr>
                        <a:t>Procedia Computer Science, 2022</a:t>
                      </a:r>
                    </a:p>
                  </a:txBody>
                  <a:tcPr>
                    <a:solidFill>
                      <a:srgbClr val="F4F7F6"/>
                    </a:solidFill>
                  </a:tcPr>
                </a:tc>
                <a:tc>
                  <a:txBody>
                    <a:bodyPr/>
                    <a:lstStyle/>
                    <a:p>
                      <a:pPr algn="l"/>
                      <a:r>
                        <a:rPr sz="869">
                          <a:solidFill>
                            <a:srgbClr val="2D2D2D"/>
                          </a:solidFill>
                        </a:rPr>
                        <a:t>Shows how data analytics and advanced measurements can extend cricket performance analysis.</a:t>
                      </a:r>
                    </a:p>
                  </a:txBody>
                  <a:tcPr>
                    <a:solidFill>
                      <a:srgbClr val="F4F7F6"/>
                    </a:solidFill>
                  </a:tcPr>
                </a:tc>
                <a:extLst>
                  <a:ext uri="{0D108BD9-81ED-4DB2-BD59-A6C34878D82A}">
                    <a16:rowId xmlns:a16="http://schemas.microsoft.com/office/drawing/2014/main" val="10002"/>
                  </a:ext>
                </a:extLst>
              </a:tr>
              <a:tr h="905256">
                <a:tc>
                  <a:txBody>
                    <a:bodyPr/>
                    <a:lstStyle/>
                    <a:p>
                      <a:pPr algn="ctr"/>
                      <a:r>
                        <a:rPr sz="840" b="1">
                          <a:solidFill>
                            <a:srgbClr val="2D2D2D"/>
                          </a:solidFill>
                        </a:rPr>
                        <a:t>[3]</a:t>
                      </a:r>
                    </a:p>
                  </a:txBody>
                  <a:tcPr>
                    <a:solidFill>
                      <a:srgbClr val="FCFCFC"/>
                    </a:solidFill>
                  </a:tcPr>
                </a:tc>
                <a:tc>
                  <a:txBody>
                    <a:bodyPr/>
                    <a:lstStyle/>
                    <a:p>
                      <a:pPr algn="l"/>
                      <a:r>
                        <a:rPr sz="869">
                          <a:solidFill>
                            <a:srgbClr val="2D2D2D"/>
                          </a:solidFill>
                        </a:rPr>
                        <a:t>Novel Method for Ranking Batsmen in Indian Premier League</a:t>
                      </a:r>
                    </a:p>
                  </a:txBody>
                  <a:tcPr>
                    <a:solidFill>
                      <a:srgbClr val="FCFCFC"/>
                    </a:solidFill>
                  </a:tcPr>
                </a:tc>
                <a:tc>
                  <a:txBody>
                    <a:bodyPr/>
                    <a:lstStyle/>
                    <a:p>
                      <a:pPr algn="l"/>
                      <a:r>
                        <a:rPr sz="840">
                          <a:solidFill>
                            <a:srgbClr val="2D2D2D"/>
                          </a:solidFill>
                        </a:rPr>
                        <a:t>M. K. Manju; A. O. Philip</a:t>
                      </a:r>
                    </a:p>
                  </a:txBody>
                  <a:tcPr>
                    <a:solidFill>
                      <a:srgbClr val="FCFCFC"/>
                    </a:solidFill>
                  </a:tcPr>
                </a:tc>
                <a:tc>
                  <a:txBody>
                    <a:bodyPr/>
                    <a:lstStyle/>
                    <a:p>
                      <a:pPr algn="l"/>
                      <a:r>
                        <a:rPr sz="840">
                          <a:solidFill>
                            <a:srgbClr val="2D2D2D"/>
                          </a:solidFill>
                        </a:rPr>
                        <a:t>Data Science &amp; Management, 2023</a:t>
                      </a:r>
                    </a:p>
                  </a:txBody>
                  <a:tcPr>
                    <a:solidFill>
                      <a:srgbClr val="FCFCFC"/>
                    </a:solidFill>
                  </a:tcPr>
                </a:tc>
                <a:tc>
                  <a:txBody>
                    <a:bodyPr/>
                    <a:lstStyle/>
                    <a:p>
                      <a:pPr algn="l"/>
                      <a:r>
                        <a:rPr sz="869">
                          <a:solidFill>
                            <a:srgbClr val="2D2D2D"/>
                          </a:solidFill>
                        </a:rPr>
                        <a:t>Uses performance, expertise and team interaction for richer IPL batsman evaluation.</a:t>
                      </a:r>
                    </a:p>
                  </a:txBody>
                  <a:tcPr>
                    <a:solidFill>
                      <a:srgbClr val="FCFCFC"/>
                    </a:solidFill>
                  </a:tcPr>
                </a:tc>
                <a:extLst>
                  <a:ext uri="{0D108BD9-81ED-4DB2-BD59-A6C34878D82A}">
                    <a16:rowId xmlns:a16="http://schemas.microsoft.com/office/drawing/2014/main" val="10003"/>
                  </a:ext>
                </a:extLst>
              </a:tr>
              <a:tr h="905256">
                <a:tc>
                  <a:txBody>
                    <a:bodyPr/>
                    <a:lstStyle/>
                    <a:p>
                      <a:pPr algn="ctr"/>
                      <a:r>
                        <a:rPr sz="840" b="1">
                          <a:solidFill>
                            <a:srgbClr val="2D2D2D"/>
                          </a:solidFill>
                        </a:rPr>
                        <a:t>[4]</a:t>
                      </a:r>
                    </a:p>
                  </a:txBody>
                  <a:tcPr>
                    <a:solidFill>
                      <a:srgbClr val="F4F7F6"/>
                    </a:solidFill>
                  </a:tcPr>
                </a:tc>
                <a:tc>
                  <a:txBody>
                    <a:bodyPr/>
                    <a:lstStyle/>
                    <a:p>
                      <a:pPr algn="l"/>
                      <a:r>
                        <a:rPr sz="869">
                          <a:solidFill>
                            <a:srgbClr val="2D2D2D"/>
                          </a:solidFill>
                        </a:rPr>
                        <a:t>Statistical Analysis of IPL Player Performance using Advanced Computational Methods</a:t>
                      </a:r>
                    </a:p>
                  </a:txBody>
                  <a:tcPr>
                    <a:solidFill>
                      <a:srgbClr val="F4F7F6"/>
                    </a:solidFill>
                  </a:tcPr>
                </a:tc>
                <a:tc>
                  <a:txBody>
                    <a:bodyPr/>
                    <a:lstStyle/>
                    <a:p>
                      <a:pPr algn="l"/>
                      <a:r>
                        <a:rPr sz="840">
                          <a:solidFill>
                            <a:srgbClr val="2D2D2D"/>
                          </a:solidFill>
                        </a:rPr>
                        <a:t>Nirat J. Patel</a:t>
                      </a:r>
                    </a:p>
                  </a:txBody>
                  <a:tcPr>
                    <a:solidFill>
                      <a:srgbClr val="F4F7F6"/>
                    </a:solidFill>
                  </a:tcPr>
                </a:tc>
                <a:tc>
                  <a:txBody>
                    <a:bodyPr/>
                    <a:lstStyle/>
                    <a:p>
                      <a:pPr algn="l"/>
                      <a:r>
                        <a:rPr sz="840">
                          <a:solidFill>
                            <a:srgbClr val="2D2D2D"/>
                          </a:solidFill>
                        </a:rPr>
                        <a:t>IJCA, 2024</a:t>
                      </a:r>
                    </a:p>
                  </a:txBody>
                  <a:tcPr>
                    <a:solidFill>
                      <a:srgbClr val="F4F7F6"/>
                    </a:solidFill>
                  </a:tcPr>
                </a:tc>
                <a:tc>
                  <a:txBody>
                    <a:bodyPr/>
                    <a:lstStyle/>
                    <a:p>
                      <a:pPr algn="l"/>
                      <a:r>
                        <a:rPr sz="869">
                          <a:solidFill>
                            <a:srgbClr val="2D2D2D"/>
                          </a:solidFill>
                        </a:rPr>
                        <a:t>Applies statistical methods to IPL batting/bowling performance using ball-by-ball data.</a:t>
                      </a:r>
                    </a:p>
                  </a:txBody>
                  <a:tcPr>
                    <a:solidFill>
                      <a:srgbClr val="F4F7F6"/>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Shape 136"/>
        <p:cNvGrpSpPr/>
        <p:nvPr/>
      </p:nvGrpSpPr>
      <p:grpSpPr>
        <a:xfrm>
          <a:off x="0" y="0"/>
          <a:ext cx="0" cy="0"/>
          <a:chOff x="0" y="0"/>
          <a:chExt cx="0" cy="0"/>
        </a:xfrm>
      </p:grpSpPr>
      <p:sp>
        <p:nvSpPr>
          <p:cNvPr id="137" name="Google Shape;137;p9"/>
          <p:cNvSpPr/>
          <p:nvPr/>
        </p:nvSpPr>
        <p:spPr>
          <a:xfrm>
            <a:off x="10424160" y="-1463040"/>
            <a:ext cx="3108960" cy="3108960"/>
          </a:xfrm>
          <a:prstGeom prst="ellipse">
            <a:avLst/>
          </a:prstGeom>
          <a:solidFill>
            <a:srgbClr val="1C7293">
              <a:alpha val="7843"/>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8" name="Google Shape;138;p9"/>
          <p:cNvSpPr/>
          <p:nvPr/>
        </p:nvSpPr>
        <p:spPr>
          <a:xfrm>
            <a:off x="-1097280" y="5669280"/>
            <a:ext cx="2194560" cy="2194560"/>
          </a:xfrm>
          <a:prstGeom prst="ellipse">
            <a:avLst/>
          </a:prstGeom>
          <a:solidFill>
            <a:srgbClr val="21295C">
              <a:alpha val="5098"/>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9" name="Google Shape;139;p9"/>
          <p:cNvSpPr/>
          <p:nvPr/>
        </p:nvSpPr>
        <p:spPr>
          <a:xfrm>
            <a:off x="502920" y="457200"/>
            <a:ext cx="530352" cy="530352"/>
          </a:xfrm>
          <a:prstGeom prst="roundRect">
            <a:avLst>
              <a:gd name="adj" fmla="val 20690"/>
            </a:avLst>
          </a:prstGeom>
          <a:solidFill>
            <a:srgbClr val="21295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0" name="Google Shape;140;p9"/>
          <p:cNvSpPr/>
          <p:nvPr/>
        </p:nvSpPr>
        <p:spPr>
          <a:xfrm>
            <a:off x="502920" y="457200"/>
            <a:ext cx="530352" cy="530352"/>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600"/>
              <a:buFont typeface="Calibri"/>
              <a:buNone/>
            </a:pPr>
            <a:r>
              <a:rPr lang="en-US" sz="1600" b="1" i="0" u="none" strike="noStrike" cap="none">
                <a:solidFill>
                  <a:srgbClr val="FFFFFF"/>
                </a:solidFill>
                <a:latin typeface="Calibri"/>
                <a:ea typeface="Calibri"/>
                <a:cs typeface="Calibri"/>
                <a:sym typeface="Calibri"/>
              </a:rPr>
              <a:t>06</a:t>
            </a:r>
            <a:endParaRPr sz="1600" b="0" i="0" u="none" strike="noStrike" cap="none">
              <a:solidFill>
                <a:schemeClr val="dk1"/>
              </a:solidFill>
              <a:latin typeface="Calibri"/>
              <a:ea typeface="Calibri"/>
              <a:cs typeface="Calibri"/>
              <a:sym typeface="Calibri"/>
            </a:endParaRPr>
          </a:p>
        </p:txBody>
      </p:sp>
      <p:sp>
        <p:nvSpPr>
          <p:cNvPr id="141" name="Google Shape;141;p9"/>
          <p:cNvSpPr/>
          <p:nvPr/>
        </p:nvSpPr>
        <p:spPr>
          <a:xfrm>
            <a:off x="1234440" y="429768"/>
            <a:ext cx="8686800" cy="27432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C7293"/>
              </a:buClr>
              <a:buSzPts val="1100"/>
              <a:buFont typeface="Calibri"/>
              <a:buNone/>
            </a:pPr>
            <a:r>
              <a:rPr lang="en-US" sz="1100" b="1" i="0" u="none" strike="noStrike" cap="none">
                <a:solidFill>
                  <a:srgbClr val="1C7293"/>
                </a:solidFill>
                <a:latin typeface="Calibri"/>
                <a:ea typeface="Calibri"/>
                <a:cs typeface="Calibri"/>
                <a:sym typeface="Calibri"/>
              </a:rPr>
              <a:t>SECTION 06</a:t>
            </a:r>
            <a:endParaRPr sz="1100" b="0" i="0" u="none" strike="noStrike" cap="none">
              <a:solidFill>
                <a:schemeClr val="dk1"/>
              </a:solidFill>
              <a:latin typeface="Calibri"/>
              <a:ea typeface="Calibri"/>
              <a:cs typeface="Calibri"/>
              <a:sym typeface="Calibri"/>
            </a:endParaRPr>
          </a:p>
        </p:txBody>
      </p:sp>
      <p:sp>
        <p:nvSpPr>
          <p:cNvPr id="142" name="Google Shape;142;p9"/>
          <p:cNvSpPr/>
          <p:nvPr/>
        </p:nvSpPr>
        <p:spPr>
          <a:xfrm>
            <a:off x="1234440" y="676656"/>
            <a:ext cx="9692640" cy="566928"/>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21295C"/>
              </a:buClr>
              <a:buSzPts val="3000"/>
              <a:buFont typeface="Cambria"/>
              <a:buNone/>
            </a:pPr>
            <a:r>
              <a:rPr lang="en-US" sz="3000" b="1" i="0" u="none" strike="noStrike" cap="none">
                <a:solidFill>
                  <a:srgbClr val="21295C"/>
                </a:solidFill>
                <a:latin typeface="Cambria"/>
                <a:ea typeface="Cambria"/>
                <a:cs typeface="Cambria"/>
                <a:sym typeface="Cambria"/>
              </a:rPr>
              <a:t>System Workflow / Architecture</a:t>
            </a:r>
            <a:endParaRPr sz="3000" b="0" i="0" u="none" strike="noStrike" cap="none">
              <a:solidFill>
                <a:schemeClr val="dk1"/>
              </a:solidFill>
              <a:latin typeface="Calibri"/>
              <a:ea typeface="Calibri"/>
              <a:cs typeface="Calibri"/>
              <a:sym typeface="Calibri"/>
            </a:endParaRPr>
          </a:p>
        </p:txBody>
      </p:sp>
      <p:sp>
        <p:nvSpPr>
          <p:cNvPr id="143" name="Google Shape;143;p9"/>
          <p:cNvSpPr/>
          <p:nvPr/>
        </p:nvSpPr>
        <p:spPr>
          <a:xfrm>
            <a:off x="1234450" y="1600200"/>
            <a:ext cx="9692700" cy="4585200"/>
          </a:xfrm>
          <a:prstGeom prst="roundRect">
            <a:avLst>
              <a:gd name="adj" fmla="val 2198"/>
            </a:avLst>
          </a:prstGeom>
          <a:solidFill>
            <a:srgbClr val="FFFFFF"/>
          </a:solidFill>
          <a:ln w="15875" cap="flat" cmpd="sng">
            <a:solidFill>
              <a:srgbClr val="DEE4EF"/>
            </a:solidFill>
            <a:prstDash val="dash"/>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4" name="Google Shape;144;p9"/>
          <p:cNvSpPr/>
          <p:nvPr/>
        </p:nvSpPr>
        <p:spPr>
          <a:xfrm>
            <a:off x="1828800" y="2551422"/>
            <a:ext cx="8503800" cy="24051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6B7593"/>
              </a:buClr>
              <a:buSzPts val="1600"/>
              <a:buFont typeface="Calibri"/>
              <a:buNone/>
            </a:pPr>
            <a:endParaRPr sz="1350" b="0" i="0" u="none" strike="noStrike" cap="none">
              <a:solidFill>
                <a:schemeClr val="dk1"/>
              </a:solidFill>
              <a:latin typeface="Calibri"/>
              <a:ea typeface="Calibri"/>
              <a:cs typeface="Calibri"/>
              <a:sym typeface="Calibri"/>
            </a:endParaRPr>
          </a:p>
        </p:txBody>
      </p:sp>
      <p:sp>
        <p:nvSpPr>
          <p:cNvPr id="145" name="Google Shape;145;p9"/>
          <p:cNvSpPr/>
          <p:nvPr/>
        </p:nvSpPr>
        <p:spPr>
          <a:xfrm>
            <a:off x="502920" y="6519672"/>
            <a:ext cx="7315200" cy="27432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6B7593"/>
              </a:buClr>
              <a:buSzPts val="900"/>
              <a:buFont typeface="Calibri"/>
              <a:buNone/>
            </a:pPr>
            <a:r>
              <a:rPr sz="900"/>
              <a:t>BCC351  ·  B.TECH SECOND YEAR MINI PROJECT PRESENTATION</a:t>
            </a:r>
            <a:endParaRPr sz="900" b="0" i="0" u="none" strike="noStrike" cap="none">
              <a:solidFill>
                <a:schemeClr val="dk1"/>
              </a:solidFill>
              <a:latin typeface="Calibri"/>
              <a:ea typeface="Calibri"/>
              <a:cs typeface="Calibri"/>
              <a:sym typeface="Calibri"/>
            </a:endParaRPr>
          </a:p>
        </p:txBody>
      </p:sp>
      <p:sp>
        <p:nvSpPr>
          <p:cNvPr id="146" name="Google Shape;146;p9"/>
          <p:cNvSpPr/>
          <p:nvPr/>
        </p:nvSpPr>
        <p:spPr>
          <a:xfrm>
            <a:off x="11228832" y="6519672"/>
            <a:ext cx="457200" cy="27432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6B7593"/>
              </a:buClr>
              <a:buSzPts val="900"/>
              <a:buFont typeface="Calibri"/>
              <a:buNone/>
            </a:pPr>
            <a:r>
              <a:rPr sz="900"/>
              <a:t>7</a:t>
            </a:r>
            <a:endParaRPr sz="900" b="0" i="0" u="none" strike="noStrike" cap="none">
              <a:solidFill>
                <a:schemeClr val="dk1"/>
              </a:solidFill>
              <a:latin typeface="Calibri"/>
              <a:ea typeface="Calibri"/>
              <a:cs typeface="Calibri"/>
              <a:sym typeface="Calibri"/>
            </a:endParaRPr>
          </a:p>
        </p:txBody>
      </p:sp>
      <p:sp>
        <p:nvSpPr>
          <p:cNvPr id="147" name="Rounded Rectangle 146"/>
          <p:cNvSpPr/>
          <p:nvPr/>
        </p:nvSpPr>
        <p:spPr>
          <a:xfrm>
            <a:off x="685800" y="2240280"/>
            <a:ext cx="1508760" cy="1143000"/>
          </a:xfrm>
          <a:prstGeom prst="roundRect">
            <a:avLst/>
          </a:prstGeom>
          <a:solidFill>
            <a:srgbClr val="F6F8F7"/>
          </a:solidFill>
          <a:ln>
            <a:solidFill>
              <a:srgbClr val="00875A"/>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50" b="1">
                <a:solidFill>
                  <a:srgbClr val="232323"/>
                </a:solidFill>
              </a:rPr>
              <a:t>1
IPL Ball-by-Ball
CSV Dataset</a:t>
            </a:r>
          </a:p>
        </p:txBody>
      </p:sp>
      <p:sp>
        <p:nvSpPr>
          <p:cNvPr id="148" name="Chevron 147"/>
          <p:cNvSpPr/>
          <p:nvPr/>
        </p:nvSpPr>
        <p:spPr>
          <a:xfrm>
            <a:off x="2304288" y="2587752"/>
            <a:ext cx="256032" cy="438912"/>
          </a:xfrm>
          <a:prstGeom prst="chevron">
            <a:avLst/>
          </a:prstGeom>
          <a:solidFill>
            <a:srgbClr val="00875A"/>
          </a:solidFill>
          <a:ln>
            <a:solidFill>
              <a:srgbClr val="0087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 name="Rounded Rectangle 148"/>
          <p:cNvSpPr/>
          <p:nvPr/>
        </p:nvSpPr>
        <p:spPr>
          <a:xfrm>
            <a:off x="2514600" y="2240280"/>
            <a:ext cx="1508760" cy="1143000"/>
          </a:xfrm>
          <a:prstGeom prst="roundRect">
            <a:avLst/>
          </a:prstGeom>
          <a:solidFill>
            <a:srgbClr val="F6F8F7"/>
          </a:solidFill>
          <a:ln>
            <a:solidFill>
              <a:srgbClr val="00875A"/>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50" b="1">
                <a:solidFill>
                  <a:srgbClr val="232323"/>
                </a:solidFill>
              </a:rPr>
              <a:t>2
Data Cleaning
&amp; Validation</a:t>
            </a:r>
          </a:p>
        </p:txBody>
      </p:sp>
      <p:sp>
        <p:nvSpPr>
          <p:cNvPr id="150" name="Chevron 149"/>
          <p:cNvSpPr/>
          <p:nvPr/>
        </p:nvSpPr>
        <p:spPr>
          <a:xfrm>
            <a:off x="4133088" y="2587752"/>
            <a:ext cx="256032" cy="438912"/>
          </a:xfrm>
          <a:prstGeom prst="chevron">
            <a:avLst/>
          </a:prstGeom>
          <a:solidFill>
            <a:srgbClr val="00875A"/>
          </a:solidFill>
          <a:ln>
            <a:solidFill>
              <a:srgbClr val="0087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 name="Rounded Rectangle 150"/>
          <p:cNvSpPr/>
          <p:nvPr/>
        </p:nvSpPr>
        <p:spPr>
          <a:xfrm>
            <a:off x="4343400" y="2240280"/>
            <a:ext cx="1508760" cy="1143000"/>
          </a:xfrm>
          <a:prstGeom prst="roundRect">
            <a:avLst/>
          </a:prstGeom>
          <a:solidFill>
            <a:srgbClr val="F6F8F7"/>
          </a:solidFill>
          <a:ln>
            <a:solidFill>
              <a:srgbClr val="00875A"/>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50" b="1">
                <a:solidFill>
                  <a:srgbClr val="232323"/>
                </a:solidFill>
              </a:rPr>
              <a:t>3
Feature Engineering
&amp; Aggregation</a:t>
            </a:r>
          </a:p>
        </p:txBody>
      </p:sp>
      <p:sp>
        <p:nvSpPr>
          <p:cNvPr id="152" name="Chevron 151"/>
          <p:cNvSpPr/>
          <p:nvPr/>
        </p:nvSpPr>
        <p:spPr>
          <a:xfrm>
            <a:off x="5961888" y="2587752"/>
            <a:ext cx="256032" cy="438912"/>
          </a:xfrm>
          <a:prstGeom prst="chevron">
            <a:avLst/>
          </a:prstGeom>
          <a:solidFill>
            <a:srgbClr val="00875A"/>
          </a:solidFill>
          <a:ln>
            <a:solidFill>
              <a:srgbClr val="0087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 name="Rounded Rectangle 152"/>
          <p:cNvSpPr/>
          <p:nvPr/>
        </p:nvSpPr>
        <p:spPr>
          <a:xfrm>
            <a:off x="6172200" y="2240280"/>
            <a:ext cx="1508760" cy="1143000"/>
          </a:xfrm>
          <a:prstGeom prst="roundRect">
            <a:avLst/>
          </a:prstGeom>
          <a:solidFill>
            <a:srgbClr val="F6F8F7"/>
          </a:solidFill>
          <a:ln>
            <a:solidFill>
              <a:srgbClr val="00875A"/>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50" b="1">
                <a:solidFill>
                  <a:srgbClr val="232323"/>
                </a:solidFill>
              </a:rPr>
              <a:t>4
EDA + KPI
Computation</a:t>
            </a:r>
          </a:p>
        </p:txBody>
      </p:sp>
      <p:sp>
        <p:nvSpPr>
          <p:cNvPr id="154" name="Chevron 153"/>
          <p:cNvSpPr/>
          <p:nvPr/>
        </p:nvSpPr>
        <p:spPr>
          <a:xfrm>
            <a:off x="7790688" y="2587752"/>
            <a:ext cx="256032" cy="438912"/>
          </a:xfrm>
          <a:prstGeom prst="chevron">
            <a:avLst/>
          </a:prstGeom>
          <a:solidFill>
            <a:srgbClr val="00875A"/>
          </a:solidFill>
          <a:ln>
            <a:solidFill>
              <a:srgbClr val="0087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5" name="Rounded Rectangle 154"/>
          <p:cNvSpPr/>
          <p:nvPr/>
        </p:nvSpPr>
        <p:spPr>
          <a:xfrm>
            <a:off x="8001000" y="2240280"/>
            <a:ext cx="1508760" cy="1143000"/>
          </a:xfrm>
          <a:prstGeom prst="roundRect">
            <a:avLst/>
          </a:prstGeom>
          <a:solidFill>
            <a:srgbClr val="F6F8F7"/>
          </a:solidFill>
          <a:ln>
            <a:solidFill>
              <a:srgbClr val="00875A"/>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50" b="1">
                <a:solidFill>
                  <a:srgbClr val="232323"/>
                </a:solidFill>
              </a:rPr>
              <a:t>5
Charts / Power BI
Dashboard</a:t>
            </a:r>
          </a:p>
        </p:txBody>
      </p:sp>
      <p:sp>
        <p:nvSpPr>
          <p:cNvPr id="156" name="Chevron 155"/>
          <p:cNvSpPr/>
          <p:nvPr/>
        </p:nvSpPr>
        <p:spPr>
          <a:xfrm>
            <a:off x="9619488" y="2587752"/>
            <a:ext cx="256032" cy="438912"/>
          </a:xfrm>
          <a:prstGeom prst="chevron">
            <a:avLst/>
          </a:prstGeom>
          <a:solidFill>
            <a:srgbClr val="00875A"/>
          </a:solidFill>
          <a:ln>
            <a:solidFill>
              <a:srgbClr val="0087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7" name="Rounded Rectangle 156"/>
          <p:cNvSpPr/>
          <p:nvPr/>
        </p:nvSpPr>
        <p:spPr>
          <a:xfrm>
            <a:off x="9829800" y="2240280"/>
            <a:ext cx="1508760" cy="1143000"/>
          </a:xfrm>
          <a:prstGeom prst="roundRect">
            <a:avLst/>
          </a:prstGeom>
          <a:solidFill>
            <a:srgbClr val="F6F8F7"/>
          </a:solidFill>
          <a:ln>
            <a:solidFill>
              <a:srgbClr val="00875A"/>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50" b="1">
                <a:solidFill>
                  <a:srgbClr val="232323"/>
                </a:solidFill>
              </a:rPr>
              <a:t>6
Player &amp; Team
Insights</a:t>
            </a:r>
          </a:p>
        </p:txBody>
      </p:sp>
      <p:sp>
        <p:nvSpPr>
          <p:cNvPr id="158" name="TextBox 157"/>
          <p:cNvSpPr txBox="1"/>
          <p:nvPr/>
        </p:nvSpPr>
        <p:spPr>
          <a:xfrm>
            <a:off x="1051560" y="3886200"/>
            <a:ext cx="10058400" cy="960120"/>
          </a:xfrm>
          <a:prstGeom prst="rect">
            <a:avLst/>
          </a:prstGeom>
          <a:noFill/>
        </p:spPr>
        <p:txBody>
          <a:bodyPr wrap="square" anchor="ctr">
            <a:spAutoFit/>
          </a:bodyPr>
          <a:lstStyle/>
          <a:p>
            <a:pPr algn="ctr"/>
            <a:r>
              <a:rPr sz="1300" b="1">
                <a:solidFill>
                  <a:srgbClr val="373737"/>
                </a:solidFill>
              </a:rPr>
              <a:t>Core analytical views: season-wise trends • player batting metrics • bowling metrics • team comparisons • over/phase analysis • boundary/extras/wicket patterns</a:t>
            </a:r>
          </a:p>
        </p:txBody>
      </p:sp>
      <p:sp>
        <p:nvSpPr>
          <p:cNvPr id="159" name="TextBox 158"/>
          <p:cNvSpPr txBox="1"/>
          <p:nvPr/>
        </p:nvSpPr>
        <p:spPr>
          <a:xfrm>
            <a:off x="1051560" y="5074920"/>
            <a:ext cx="10058400" cy="438912"/>
          </a:xfrm>
          <a:prstGeom prst="rect">
            <a:avLst/>
          </a:prstGeom>
          <a:noFill/>
        </p:spPr>
        <p:txBody>
          <a:bodyPr wrap="square" anchor="ctr">
            <a:spAutoFit/>
          </a:bodyPr>
          <a:lstStyle/>
          <a:p>
            <a:pPr algn="ctr"/>
            <a:r>
              <a:rPr sz="1050" b="0">
                <a:solidFill>
                  <a:srgbClr val="5A5A5A"/>
                </a:solidFill>
              </a:rPr>
              <a:t>Output: concise visual insights from the supplied dataset; predictive modelling is not assumed at this stage.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Shape 151"/>
        <p:cNvGrpSpPr/>
        <p:nvPr/>
      </p:nvGrpSpPr>
      <p:grpSpPr>
        <a:xfrm>
          <a:off x="0" y="0"/>
          <a:ext cx="0" cy="0"/>
          <a:chOff x="0" y="0"/>
          <a:chExt cx="0" cy="0"/>
        </a:xfrm>
      </p:grpSpPr>
      <p:sp>
        <p:nvSpPr>
          <p:cNvPr id="152" name="Google Shape;152;p10"/>
          <p:cNvSpPr/>
          <p:nvPr/>
        </p:nvSpPr>
        <p:spPr>
          <a:xfrm>
            <a:off x="10424160" y="-1463040"/>
            <a:ext cx="3108960" cy="3108960"/>
          </a:xfrm>
          <a:prstGeom prst="ellipse">
            <a:avLst/>
          </a:prstGeom>
          <a:solidFill>
            <a:srgbClr val="1C7293">
              <a:alpha val="7843"/>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3" name="Google Shape;153;p10"/>
          <p:cNvSpPr/>
          <p:nvPr/>
        </p:nvSpPr>
        <p:spPr>
          <a:xfrm>
            <a:off x="-1097280" y="5669280"/>
            <a:ext cx="2194560" cy="2194560"/>
          </a:xfrm>
          <a:prstGeom prst="ellipse">
            <a:avLst/>
          </a:prstGeom>
          <a:solidFill>
            <a:srgbClr val="21295C">
              <a:alpha val="5098"/>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4" name="Google Shape;154;p10"/>
          <p:cNvSpPr/>
          <p:nvPr/>
        </p:nvSpPr>
        <p:spPr>
          <a:xfrm>
            <a:off x="502920" y="457200"/>
            <a:ext cx="530352" cy="530352"/>
          </a:xfrm>
          <a:prstGeom prst="roundRect">
            <a:avLst>
              <a:gd name="adj" fmla="val 20690"/>
            </a:avLst>
          </a:prstGeom>
          <a:solidFill>
            <a:srgbClr val="21295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5" name="Google Shape;155;p10"/>
          <p:cNvSpPr/>
          <p:nvPr/>
        </p:nvSpPr>
        <p:spPr>
          <a:xfrm>
            <a:off x="502920" y="457200"/>
            <a:ext cx="530352" cy="530352"/>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600"/>
              <a:buFont typeface="Calibri"/>
              <a:buNone/>
            </a:pPr>
            <a:r>
              <a:rPr lang="en-US" sz="1600" b="1" i="0" u="none" strike="noStrike" cap="none">
                <a:solidFill>
                  <a:srgbClr val="FFFFFF"/>
                </a:solidFill>
                <a:latin typeface="Calibri"/>
                <a:ea typeface="Calibri"/>
                <a:cs typeface="Calibri"/>
                <a:sym typeface="Calibri"/>
              </a:rPr>
              <a:t>07</a:t>
            </a:r>
            <a:endParaRPr sz="1600" b="0" i="0" u="none" strike="noStrike" cap="none">
              <a:solidFill>
                <a:schemeClr val="dk1"/>
              </a:solidFill>
              <a:latin typeface="Calibri"/>
              <a:ea typeface="Calibri"/>
              <a:cs typeface="Calibri"/>
              <a:sym typeface="Calibri"/>
            </a:endParaRPr>
          </a:p>
        </p:txBody>
      </p:sp>
      <p:sp>
        <p:nvSpPr>
          <p:cNvPr id="156" name="Google Shape;156;p10"/>
          <p:cNvSpPr/>
          <p:nvPr/>
        </p:nvSpPr>
        <p:spPr>
          <a:xfrm>
            <a:off x="1234440" y="429768"/>
            <a:ext cx="8686800" cy="27432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C7293"/>
              </a:buClr>
              <a:buSzPts val="1100"/>
              <a:buFont typeface="Calibri"/>
              <a:buNone/>
            </a:pPr>
            <a:r>
              <a:rPr lang="en-US" sz="1100" b="1" i="0" u="none" strike="noStrike" cap="none">
                <a:solidFill>
                  <a:srgbClr val="1C7293"/>
                </a:solidFill>
                <a:latin typeface="Calibri"/>
                <a:ea typeface="Calibri"/>
                <a:cs typeface="Calibri"/>
                <a:sym typeface="Calibri"/>
              </a:rPr>
              <a:t>SECTION 07</a:t>
            </a:r>
            <a:endParaRPr sz="1100" b="0" i="0" u="none" strike="noStrike" cap="none">
              <a:solidFill>
                <a:schemeClr val="dk1"/>
              </a:solidFill>
              <a:latin typeface="Calibri"/>
              <a:ea typeface="Calibri"/>
              <a:cs typeface="Calibri"/>
              <a:sym typeface="Calibri"/>
            </a:endParaRPr>
          </a:p>
        </p:txBody>
      </p:sp>
      <p:sp>
        <p:nvSpPr>
          <p:cNvPr id="157" name="Google Shape;157;p10"/>
          <p:cNvSpPr/>
          <p:nvPr/>
        </p:nvSpPr>
        <p:spPr>
          <a:xfrm>
            <a:off x="1234440" y="676656"/>
            <a:ext cx="9692640" cy="566928"/>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21295C"/>
              </a:buClr>
              <a:buSzPts val="3000"/>
              <a:buFont typeface="Cambria"/>
              <a:buNone/>
            </a:pPr>
            <a:r>
              <a:rPr lang="en-US" sz="3000" b="1" i="0" u="none" strike="noStrike" cap="none">
                <a:solidFill>
                  <a:srgbClr val="21295C"/>
                </a:solidFill>
                <a:latin typeface="Cambria"/>
                <a:ea typeface="Cambria"/>
                <a:cs typeface="Cambria"/>
                <a:sym typeface="Cambria"/>
              </a:rPr>
              <a:t>Expected Outcome</a:t>
            </a:r>
            <a:endParaRPr sz="3000" b="0" i="0" u="none" strike="noStrike" cap="none">
              <a:solidFill>
                <a:schemeClr val="dk1"/>
              </a:solidFill>
              <a:latin typeface="Calibri"/>
              <a:ea typeface="Calibri"/>
              <a:cs typeface="Calibri"/>
              <a:sym typeface="Calibri"/>
            </a:endParaRPr>
          </a:p>
        </p:txBody>
      </p:sp>
      <p:sp>
        <p:nvSpPr>
          <p:cNvPr id="158" name="Google Shape;158;p10"/>
          <p:cNvSpPr/>
          <p:nvPr/>
        </p:nvSpPr>
        <p:spPr>
          <a:xfrm>
            <a:off x="1249640" y="1600190"/>
            <a:ext cx="9692700" cy="777300"/>
          </a:xfrm>
          <a:prstGeom prst="roundRect">
            <a:avLst>
              <a:gd name="adj" fmla="val 10588"/>
            </a:avLst>
          </a:prstGeom>
          <a:solidFill>
            <a:srgbClr val="FFFFFF"/>
          </a:solidFill>
          <a:ln w="12700" cap="flat" cmpd="sng">
            <a:solidFill>
              <a:srgbClr val="DEE4E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9" name="Google Shape;159;p10"/>
          <p:cNvSpPr/>
          <p:nvPr/>
        </p:nvSpPr>
        <p:spPr>
          <a:xfrm>
            <a:off x="1478240" y="1801358"/>
            <a:ext cx="384000" cy="384000"/>
          </a:xfrm>
          <a:prstGeom prst="ellipse">
            <a:avLst/>
          </a:prstGeom>
          <a:solidFill>
            <a:srgbClr val="1C72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0" name="Google Shape;160;p10"/>
          <p:cNvSpPr/>
          <p:nvPr/>
        </p:nvSpPr>
        <p:spPr>
          <a:xfrm>
            <a:off x="1478240" y="1801358"/>
            <a:ext cx="384000" cy="384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500"/>
              <a:buFont typeface="Calibri"/>
              <a:buNone/>
            </a:pPr>
            <a:r>
              <a:rPr lang="en-US" sz="1500" b="1" i="0" u="none" strike="noStrike" cap="none">
                <a:solidFill>
                  <a:srgbClr val="FFFFFF"/>
                </a:solidFill>
                <a:latin typeface="Calibri"/>
                <a:ea typeface="Calibri"/>
                <a:cs typeface="Calibri"/>
                <a:sym typeface="Calibri"/>
              </a:rPr>
              <a:t>✓</a:t>
            </a:r>
            <a:endParaRPr sz="1500" b="0" i="0" u="none" strike="noStrike" cap="none">
              <a:solidFill>
                <a:schemeClr val="dk1"/>
              </a:solidFill>
              <a:latin typeface="Calibri"/>
              <a:ea typeface="Calibri"/>
              <a:cs typeface="Calibri"/>
              <a:sym typeface="Calibri"/>
            </a:endParaRPr>
          </a:p>
        </p:txBody>
      </p:sp>
      <p:sp>
        <p:nvSpPr>
          <p:cNvPr id="161" name="Google Shape;161;p10"/>
          <p:cNvSpPr/>
          <p:nvPr/>
        </p:nvSpPr>
        <p:spPr>
          <a:xfrm>
            <a:off x="2072600" y="1600190"/>
            <a:ext cx="8595300" cy="7773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B1F3B"/>
              </a:buClr>
              <a:buSzPts val="1400"/>
              <a:buFont typeface="Calibri"/>
              <a:buNone/>
            </a:pPr>
            <a:r>
              <a:rPr sz="1350" b="0">
                <a:solidFill>
                  <a:srgbClr val="232323"/>
                </a:solidFill>
              </a:rPr>
              <a:t>A cleaned and analysis-ready IPL ball-by-ball dataset with consistent derived metrics.</a:t>
            </a:r>
            <a:endParaRPr sz="1400" b="0" i="0" u="none" strike="noStrike" cap="none">
              <a:solidFill>
                <a:schemeClr val="dk1"/>
              </a:solidFill>
              <a:latin typeface="Calibri"/>
              <a:ea typeface="Calibri"/>
              <a:cs typeface="Calibri"/>
              <a:sym typeface="Calibri"/>
            </a:endParaRPr>
          </a:p>
        </p:txBody>
      </p:sp>
      <p:sp>
        <p:nvSpPr>
          <p:cNvPr id="162" name="Google Shape;162;p10"/>
          <p:cNvSpPr/>
          <p:nvPr/>
        </p:nvSpPr>
        <p:spPr>
          <a:xfrm>
            <a:off x="1249640" y="2560310"/>
            <a:ext cx="9692700" cy="777300"/>
          </a:xfrm>
          <a:prstGeom prst="roundRect">
            <a:avLst>
              <a:gd name="adj" fmla="val 10588"/>
            </a:avLst>
          </a:prstGeom>
          <a:solidFill>
            <a:srgbClr val="FFFFFF"/>
          </a:solidFill>
          <a:ln w="12700" cap="flat" cmpd="sng">
            <a:solidFill>
              <a:srgbClr val="DEE4E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3" name="Google Shape;163;p10"/>
          <p:cNvSpPr/>
          <p:nvPr/>
        </p:nvSpPr>
        <p:spPr>
          <a:xfrm>
            <a:off x="1478240" y="2761478"/>
            <a:ext cx="384000" cy="384000"/>
          </a:xfrm>
          <a:prstGeom prst="ellipse">
            <a:avLst/>
          </a:prstGeom>
          <a:solidFill>
            <a:srgbClr val="1C72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4" name="Google Shape;164;p10"/>
          <p:cNvSpPr/>
          <p:nvPr/>
        </p:nvSpPr>
        <p:spPr>
          <a:xfrm>
            <a:off x="1478240" y="2761478"/>
            <a:ext cx="384000" cy="384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500"/>
              <a:buFont typeface="Calibri"/>
              <a:buNone/>
            </a:pPr>
            <a:r>
              <a:rPr lang="en-US" sz="1500" b="1" i="0" u="none" strike="noStrike" cap="none">
                <a:solidFill>
                  <a:srgbClr val="FFFFFF"/>
                </a:solidFill>
                <a:latin typeface="Calibri"/>
                <a:ea typeface="Calibri"/>
                <a:cs typeface="Calibri"/>
                <a:sym typeface="Calibri"/>
              </a:rPr>
              <a:t>✓</a:t>
            </a:r>
            <a:endParaRPr sz="1500" b="0" i="0" u="none" strike="noStrike" cap="none">
              <a:solidFill>
                <a:schemeClr val="dk1"/>
              </a:solidFill>
              <a:latin typeface="Calibri"/>
              <a:ea typeface="Calibri"/>
              <a:cs typeface="Calibri"/>
              <a:sym typeface="Calibri"/>
            </a:endParaRPr>
          </a:p>
        </p:txBody>
      </p:sp>
      <p:sp>
        <p:nvSpPr>
          <p:cNvPr id="165" name="Google Shape;165;p10"/>
          <p:cNvSpPr/>
          <p:nvPr/>
        </p:nvSpPr>
        <p:spPr>
          <a:xfrm>
            <a:off x="2072600" y="2560310"/>
            <a:ext cx="8595300" cy="7773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B1F3B"/>
              </a:buClr>
              <a:buSzPts val="1400"/>
              <a:buFont typeface="Calibri"/>
              <a:buNone/>
            </a:pPr>
            <a:r>
              <a:rPr sz="1350" b="0">
                <a:solidFill>
                  <a:srgbClr val="232323"/>
                </a:solidFill>
              </a:rPr>
              <a:t>Player-level batting and bowling performance summaries for comparison.</a:t>
            </a:r>
            <a:endParaRPr sz="1400" b="0" i="0" u="none" strike="noStrike" cap="none">
              <a:solidFill>
                <a:schemeClr val="dk1"/>
              </a:solidFill>
              <a:latin typeface="Calibri"/>
              <a:ea typeface="Calibri"/>
              <a:cs typeface="Calibri"/>
              <a:sym typeface="Calibri"/>
            </a:endParaRPr>
          </a:p>
        </p:txBody>
      </p:sp>
      <p:sp>
        <p:nvSpPr>
          <p:cNvPr id="166" name="Google Shape;166;p10"/>
          <p:cNvSpPr/>
          <p:nvPr/>
        </p:nvSpPr>
        <p:spPr>
          <a:xfrm>
            <a:off x="1249640" y="3520430"/>
            <a:ext cx="9692700" cy="777300"/>
          </a:xfrm>
          <a:prstGeom prst="roundRect">
            <a:avLst>
              <a:gd name="adj" fmla="val 10588"/>
            </a:avLst>
          </a:prstGeom>
          <a:solidFill>
            <a:srgbClr val="FFFFFF"/>
          </a:solidFill>
          <a:ln w="12700" cap="flat" cmpd="sng">
            <a:solidFill>
              <a:srgbClr val="DEE4E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7" name="Google Shape;167;p10"/>
          <p:cNvSpPr/>
          <p:nvPr/>
        </p:nvSpPr>
        <p:spPr>
          <a:xfrm>
            <a:off x="1478240" y="3721598"/>
            <a:ext cx="384000" cy="384000"/>
          </a:xfrm>
          <a:prstGeom prst="ellipse">
            <a:avLst/>
          </a:prstGeom>
          <a:solidFill>
            <a:srgbClr val="1C72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8" name="Google Shape;168;p10"/>
          <p:cNvSpPr/>
          <p:nvPr/>
        </p:nvSpPr>
        <p:spPr>
          <a:xfrm>
            <a:off x="1478240" y="3721598"/>
            <a:ext cx="384000" cy="384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500"/>
              <a:buFont typeface="Calibri"/>
              <a:buNone/>
            </a:pPr>
            <a:r>
              <a:rPr lang="en-US" sz="1500" b="1" i="0" u="none" strike="noStrike" cap="none">
                <a:solidFill>
                  <a:srgbClr val="FFFFFF"/>
                </a:solidFill>
                <a:latin typeface="Calibri"/>
                <a:ea typeface="Calibri"/>
                <a:cs typeface="Calibri"/>
                <a:sym typeface="Calibri"/>
              </a:rPr>
              <a:t>✓</a:t>
            </a:r>
            <a:endParaRPr sz="1500" b="0" i="0" u="none" strike="noStrike" cap="none">
              <a:solidFill>
                <a:schemeClr val="dk1"/>
              </a:solidFill>
              <a:latin typeface="Calibri"/>
              <a:ea typeface="Calibri"/>
              <a:cs typeface="Calibri"/>
              <a:sym typeface="Calibri"/>
            </a:endParaRPr>
          </a:p>
        </p:txBody>
      </p:sp>
      <p:sp>
        <p:nvSpPr>
          <p:cNvPr id="169" name="Google Shape;169;p10"/>
          <p:cNvSpPr/>
          <p:nvPr/>
        </p:nvSpPr>
        <p:spPr>
          <a:xfrm>
            <a:off x="2072600" y="3520430"/>
            <a:ext cx="8595300" cy="7773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B1F3B"/>
              </a:buClr>
              <a:buSzPts val="1400"/>
              <a:buFont typeface="Calibri"/>
              <a:buNone/>
            </a:pPr>
            <a:r>
              <a:rPr sz="1350" b="0">
                <a:solidFill>
                  <a:srgbClr val="232323"/>
                </a:solidFill>
              </a:rPr>
              <a:t>Team- and season-level visual trends highlighting scoring, wickets and match patterns.</a:t>
            </a:r>
            <a:endParaRPr sz="1400" b="0" i="0" u="none" strike="noStrike" cap="none">
              <a:solidFill>
                <a:schemeClr val="dk1"/>
              </a:solidFill>
              <a:latin typeface="Calibri"/>
              <a:ea typeface="Calibri"/>
              <a:cs typeface="Calibri"/>
              <a:sym typeface="Calibri"/>
            </a:endParaRPr>
          </a:p>
        </p:txBody>
      </p:sp>
      <p:sp>
        <p:nvSpPr>
          <p:cNvPr id="170" name="Google Shape;170;p10"/>
          <p:cNvSpPr/>
          <p:nvPr/>
        </p:nvSpPr>
        <p:spPr>
          <a:xfrm>
            <a:off x="1249640" y="4480550"/>
            <a:ext cx="9692700" cy="777300"/>
          </a:xfrm>
          <a:prstGeom prst="roundRect">
            <a:avLst>
              <a:gd name="adj" fmla="val 10588"/>
            </a:avLst>
          </a:prstGeom>
          <a:solidFill>
            <a:srgbClr val="FFFFFF"/>
          </a:solidFill>
          <a:ln w="12700" cap="flat" cmpd="sng">
            <a:solidFill>
              <a:srgbClr val="DEE4E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1" name="Google Shape;171;p10"/>
          <p:cNvSpPr/>
          <p:nvPr/>
        </p:nvSpPr>
        <p:spPr>
          <a:xfrm>
            <a:off x="1478240" y="4681718"/>
            <a:ext cx="384000" cy="384000"/>
          </a:xfrm>
          <a:prstGeom prst="ellipse">
            <a:avLst/>
          </a:prstGeom>
          <a:solidFill>
            <a:srgbClr val="1C729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2" name="Google Shape;172;p10"/>
          <p:cNvSpPr/>
          <p:nvPr/>
        </p:nvSpPr>
        <p:spPr>
          <a:xfrm>
            <a:off x="1478240" y="4681718"/>
            <a:ext cx="384000" cy="384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500"/>
              <a:buFont typeface="Calibri"/>
              <a:buNone/>
            </a:pPr>
            <a:r>
              <a:rPr lang="en-US" sz="1500" b="1" i="0" u="none" strike="noStrike" cap="none">
                <a:solidFill>
                  <a:srgbClr val="FFFFFF"/>
                </a:solidFill>
                <a:latin typeface="Calibri"/>
                <a:ea typeface="Calibri"/>
                <a:cs typeface="Calibri"/>
                <a:sym typeface="Calibri"/>
              </a:rPr>
              <a:t>✓</a:t>
            </a:r>
            <a:endParaRPr sz="1500" b="0" i="0" u="none" strike="noStrike" cap="none">
              <a:solidFill>
                <a:schemeClr val="dk1"/>
              </a:solidFill>
              <a:latin typeface="Calibri"/>
              <a:ea typeface="Calibri"/>
              <a:cs typeface="Calibri"/>
              <a:sym typeface="Calibri"/>
            </a:endParaRPr>
          </a:p>
        </p:txBody>
      </p:sp>
      <p:sp>
        <p:nvSpPr>
          <p:cNvPr id="173" name="Google Shape;173;p10"/>
          <p:cNvSpPr/>
          <p:nvPr/>
        </p:nvSpPr>
        <p:spPr>
          <a:xfrm>
            <a:off x="2072600" y="4480550"/>
            <a:ext cx="8595300" cy="7773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B1F3B"/>
              </a:buClr>
              <a:buSzPts val="1400"/>
              <a:buFont typeface="Calibri"/>
              <a:buNone/>
            </a:pPr>
            <a:r>
              <a:rPr sz="1350" b="0">
                <a:solidFill>
                  <a:srgbClr val="232323"/>
                </a:solidFill>
              </a:rPr>
              <a:t>An interactive/visual analytical view that makes IPL performance insights easier to interpret.</a:t>
            </a:r>
            <a:endParaRPr sz="1400" b="0" i="0" u="none" strike="noStrike" cap="none">
              <a:solidFill>
                <a:schemeClr val="dk1"/>
              </a:solidFill>
              <a:latin typeface="Calibri"/>
              <a:ea typeface="Calibri"/>
              <a:cs typeface="Calibri"/>
              <a:sym typeface="Calibri"/>
            </a:endParaRPr>
          </a:p>
        </p:txBody>
      </p:sp>
      <p:sp>
        <p:nvSpPr>
          <p:cNvPr id="174" name="Google Shape;174;p10"/>
          <p:cNvSpPr/>
          <p:nvPr/>
        </p:nvSpPr>
        <p:spPr>
          <a:xfrm>
            <a:off x="502920" y="6519672"/>
            <a:ext cx="7315200" cy="27432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6B7593"/>
              </a:buClr>
              <a:buSzPts val="900"/>
              <a:buFont typeface="Calibri"/>
              <a:buNone/>
            </a:pPr>
            <a:r>
              <a:rPr sz="900"/>
              <a:t>BCC351  ·  B.TECH SECOND YEAR MINI PROJECT PRESENTATION</a:t>
            </a:r>
            <a:endParaRPr sz="900" b="0" i="0" u="none" strike="noStrike" cap="none">
              <a:solidFill>
                <a:schemeClr val="dk1"/>
              </a:solidFill>
              <a:latin typeface="Calibri"/>
              <a:ea typeface="Calibri"/>
              <a:cs typeface="Calibri"/>
              <a:sym typeface="Calibri"/>
            </a:endParaRPr>
          </a:p>
        </p:txBody>
      </p:sp>
      <p:sp>
        <p:nvSpPr>
          <p:cNvPr id="175" name="Google Shape;175;p10"/>
          <p:cNvSpPr/>
          <p:nvPr/>
        </p:nvSpPr>
        <p:spPr>
          <a:xfrm>
            <a:off x="11228832" y="6519672"/>
            <a:ext cx="457200" cy="27432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6B7593"/>
              </a:buClr>
              <a:buSzPts val="900"/>
              <a:buFont typeface="Calibri"/>
              <a:buNone/>
            </a:pPr>
            <a:r>
              <a:rPr sz="900"/>
              <a:t>8</a:t>
            </a:r>
            <a:endParaRPr sz="900" b="0" i="0" u="none" strike="noStrike" cap="non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Shape 180"/>
        <p:cNvGrpSpPr/>
        <p:nvPr/>
      </p:nvGrpSpPr>
      <p:grpSpPr>
        <a:xfrm>
          <a:off x="0" y="0"/>
          <a:ext cx="0" cy="0"/>
          <a:chOff x="0" y="0"/>
          <a:chExt cx="0" cy="0"/>
        </a:xfrm>
      </p:grpSpPr>
      <p:sp>
        <p:nvSpPr>
          <p:cNvPr id="181" name="Google Shape;181;p11"/>
          <p:cNvSpPr/>
          <p:nvPr/>
        </p:nvSpPr>
        <p:spPr>
          <a:xfrm>
            <a:off x="10424160" y="-1463040"/>
            <a:ext cx="3108960" cy="3108960"/>
          </a:xfrm>
          <a:prstGeom prst="ellipse">
            <a:avLst/>
          </a:prstGeom>
          <a:solidFill>
            <a:srgbClr val="1C7293">
              <a:alpha val="7843"/>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2" name="Google Shape;182;p11"/>
          <p:cNvSpPr/>
          <p:nvPr/>
        </p:nvSpPr>
        <p:spPr>
          <a:xfrm>
            <a:off x="-1097280" y="5669280"/>
            <a:ext cx="2194560" cy="2194560"/>
          </a:xfrm>
          <a:prstGeom prst="ellipse">
            <a:avLst/>
          </a:prstGeom>
          <a:solidFill>
            <a:srgbClr val="21295C">
              <a:alpha val="5098"/>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3" name="Google Shape;183;p11"/>
          <p:cNvSpPr/>
          <p:nvPr/>
        </p:nvSpPr>
        <p:spPr>
          <a:xfrm>
            <a:off x="502920" y="457200"/>
            <a:ext cx="530352" cy="530352"/>
          </a:xfrm>
          <a:prstGeom prst="roundRect">
            <a:avLst>
              <a:gd name="adj" fmla="val 20690"/>
            </a:avLst>
          </a:prstGeom>
          <a:solidFill>
            <a:srgbClr val="21295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4" name="Google Shape;184;p11"/>
          <p:cNvSpPr/>
          <p:nvPr/>
        </p:nvSpPr>
        <p:spPr>
          <a:xfrm>
            <a:off x="502920" y="457200"/>
            <a:ext cx="530352" cy="530352"/>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600"/>
              <a:buFont typeface="Calibri"/>
              <a:buNone/>
            </a:pPr>
            <a:r>
              <a:rPr lang="en-US" sz="1600" b="1" i="0" u="none" strike="noStrike" cap="none">
                <a:solidFill>
                  <a:srgbClr val="FFFFFF"/>
                </a:solidFill>
                <a:latin typeface="Calibri"/>
                <a:ea typeface="Calibri"/>
                <a:cs typeface="Calibri"/>
                <a:sym typeface="Calibri"/>
              </a:rPr>
              <a:t>08</a:t>
            </a:r>
            <a:endParaRPr sz="1600" b="0" i="0" u="none" strike="noStrike" cap="none">
              <a:solidFill>
                <a:schemeClr val="dk1"/>
              </a:solidFill>
              <a:latin typeface="Calibri"/>
              <a:ea typeface="Calibri"/>
              <a:cs typeface="Calibri"/>
              <a:sym typeface="Calibri"/>
            </a:endParaRPr>
          </a:p>
        </p:txBody>
      </p:sp>
      <p:sp>
        <p:nvSpPr>
          <p:cNvPr id="185" name="Google Shape;185;p11"/>
          <p:cNvSpPr/>
          <p:nvPr/>
        </p:nvSpPr>
        <p:spPr>
          <a:xfrm>
            <a:off x="1234440" y="429768"/>
            <a:ext cx="8686800" cy="27432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C7293"/>
              </a:buClr>
              <a:buSzPts val="1100"/>
              <a:buFont typeface="Calibri"/>
              <a:buNone/>
            </a:pPr>
            <a:r>
              <a:rPr lang="en-US" sz="1100" b="1" i="0" u="none" strike="noStrike" cap="none">
                <a:solidFill>
                  <a:srgbClr val="1C7293"/>
                </a:solidFill>
                <a:latin typeface="Calibri"/>
                <a:ea typeface="Calibri"/>
                <a:cs typeface="Calibri"/>
                <a:sym typeface="Calibri"/>
              </a:rPr>
              <a:t>SECTION 08</a:t>
            </a:r>
            <a:endParaRPr sz="1100" b="0" i="0" u="none" strike="noStrike" cap="none">
              <a:solidFill>
                <a:schemeClr val="dk1"/>
              </a:solidFill>
              <a:latin typeface="Calibri"/>
              <a:ea typeface="Calibri"/>
              <a:cs typeface="Calibri"/>
              <a:sym typeface="Calibri"/>
            </a:endParaRPr>
          </a:p>
        </p:txBody>
      </p:sp>
      <p:sp>
        <p:nvSpPr>
          <p:cNvPr id="186" name="Google Shape;186;p11"/>
          <p:cNvSpPr/>
          <p:nvPr/>
        </p:nvSpPr>
        <p:spPr>
          <a:xfrm>
            <a:off x="1234440" y="676656"/>
            <a:ext cx="9692640" cy="566928"/>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21295C"/>
              </a:buClr>
              <a:buSzPts val="3000"/>
              <a:buFont typeface="Cambria"/>
              <a:buNone/>
            </a:pPr>
            <a:r>
              <a:rPr lang="en-US" sz="3000" b="1" i="0" u="none" strike="noStrike" cap="none">
                <a:solidFill>
                  <a:srgbClr val="21295C"/>
                </a:solidFill>
                <a:latin typeface="Cambria"/>
                <a:ea typeface="Cambria"/>
                <a:cs typeface="Cambria"/>
                <a:sym typeface="Cambria"/>
              </a:rPr>
              <a:t>References</a:t>
            </a:r>
            <a:endParaRPr sz="3000" b="0" i="0" u="none" strike="noStrike" cap="none">
              <a:solidFill>
                <a:schemeClr val="dk1"/>
              </a:solidFill>
              <a:latin typeface="Calibri"/>
              <a:ea typeface="Calibri"/>
              <a:cs typeface="Calibri"/>
              <a:sym typeface="Calibri"/>
            </a:endParaRPr>
          </a:p>
        </p:txBody>
      </p:sp>
      <p:sp>
        <p:nvSpPr>
          <p:cNvPr id="187" name="Google Shape;187;p11"/>
          <p:cNvSpPr/>
          <p:nvPr/>
        </p:nvSpPr>
        <p:spPr>
          <a:xfrm>
            <a:off x="1249640" y="4563960"/>
            <a:ext cx="9692700" cy="3201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6B7593"/>
              </a:buClr>
              <a:buSzPts val="1300"/>
              <a:buFont typeface="Calibri"/>
              <a:buNone/>
            </a:pPr>
            <a:r>
              <a:rPr lang="en-US" sz="1400" b="0" i="1" u="none" strike="noStrike" cap="none">
                <a:solidFill>
                  <a:srgbClr val="6B7593"/>
                </a:solidFill>
                <a:latin typeface="Calibri"/>
                <a:ea typeface="Calibri"/>
                <a:cs typeface="Calibri"/>
                <a:sym typeface="Calibri"/>
              </a:rPr>
              <a:t>NOTE: All references must be cited in IEEE format.</a:t>
            </a:r>
            <a:endParaRPr sz="1400" b="0" i="0" u="none" strike="noStrike" cap="none">
              <a:solidFill>
                <a:schemeClr val="dk1"/>
              </a:solidFill>
              <a:latin typeface="Calibri"/>
              <a:ea typeface="Calibri"/>
              <a:cs typeface="Calibri"/>
              <a:sym typeface="Calibri"/>
            </a:endParaRPr>
          </a:p>
        </p:txBody>
      </p:sp>
      <p:sp>
        <p:nvSpPr>
          <p:cNvPr id="188" name="Google Shape;188;p11"/>
          <p:cNvSpPr/>
          <p:nvPr/>
        </p:nvSpPr>
        <p:spPr>
          <a:xfrm>
            <a:off x="1249650" y="1243575"/>
            <a:ext cx="9692700" cy="3004200"/>
          </a:xfrm>
          <a:prstGeom prst="rect">
            <a:avLst/>
          </a:prstGeom>
          <a:noFill/>
          <a:ln>
            <a:noFill/>
          </a:ln>
        </p:spPr>
        <p:txBody>
          <a:bodyPr spcFirstLastPara="1" wrap="square" lIns="91425" tIns="45700" rIns="91425" bIns="45700" anchor="ctr" anchorCtr="0">
            <a:noAutofit/>
          </a:bodyPr>
          <a:lstStyle/>
          <a:p>
            <a:pPr marL="0" marR="0" lvl="0" indent="0" algn="l" rtl="0">
              <a:lnSpc>
                <a:spcPct val="120000"/>
              </a:lnSpc>
              <a:spcBef>
                <a:spcPts val="0"/>
              </a:spcBef>
              <a:spcAft>
                <a:spcPts val="0"/>
              </a:spcAft>
              <a:buClr>
                <a:srgbClr val="1B1F3B"/>
              </a:buClr>
              <a:buSzPts val="1300"/>
              <a:buFont typeface="Calibri"/>
              <a:buNone/>
            </a:pPr>
            <a:r>
              <a:rPr sz="1050" b="0">
                <a:solidFill>
                  <a:srgbClr val="2D2D2D"/>
                </a:solidFill>
              </a:rPr>
              <a:t>[1] P. C. Shukla and H. R. Thaker, "Analysis and Comparative Study of 10 Years Cricket Sports Data of Indian Premiere League (IPL) using R Programming," International Journal of Computer Engineering and Technology, vol. 9, no. 5, pp. 10–15, 2018.
[2] V. Vishwarupe, M. Bedekar, P. M. Joshi, M. Pande, V. Pawar, and P. Shingote, "Data Analytics in the Game of Cricket: A Novel Paradigm," Procedia Computer Science, vol. 204, pp. 937–944, 2022, doi: 10.1016/j.procs.2022.08.114.
[3] M. K. Manju and A. O. Philip, "Novel method for ranking batsmen in Indian Premier League," Data Science and Management, vol. 6, no. 3, pp. 158–173, 2023, doi: 10.1016/j.dsm.2023.06.004.
[4] N. J. Patel, "Statistical Analysis of IPL Player Performance using Advanced Computational Methods," International Journal of Computer Applications, vol. 186, no. 30, pp. 48–52, 2024, doi: 10.5120/ijca2024923882.
[5] Supplied project dataset: IPL ball-by-ball CSV file provided for this mini project.</a:t>
            </a:r>
            <a:endParaRPr sz="1300" b="0" i="0" u="none" strike="noStrike" cap="none">
              <a:solidFill>
                <a:schemeClr val="dk1"/>
              </a:solidFill>
              <a:latin typeface="Calibri"/>
              <a:ea typeface="Calibri"/>
              <a:cs typeface="Calibri"/>
              <a:sym typeface="Calibri"/>
            </a:endParaRPr>
          </a:p>
        </p:txBody>
      </p:sp>
      <p:sp>
        <p:nvSpPr>
          <p:cNvPr id="189" name="Google Shape;189;p11"/>
          <p:cNvSpPr/>
          <p:nvPr/>
        </p:nvSpPr>
        <p:spPr>
          <a:xfrm>
            <a:off x="502920" y="6519672"/>
            <a:ext cx="7315200" cy="27432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6B7593"/>
              </a:buClr>
              <a:buSzPts val="900"/>
              <a:buFont typeface="Calibri"/>
              <a:buNone/>
            </a:pPr>
            <a:r>
              <a:rPr sz="900"/>
              <a:t>BCC351  ·  B.TECH SECOND YEAR MINI PROJECT PRESENTATION</a:t>
            </a:r>
            <a:endParaRPr sz="900" b="0" i="0" u="none" strike="noStrike" cap="none">
              <a:solidFill>
                <a:schemeClr val="dk1"/>
              </a:solidFill>
              <a:latin typeface="Calibri"/>
              <a:ea typeface="Calibri"/>
              <a:cs typeface="Calibri"/>
              <a:sym typeface="Calibri"/>
            </a:endParaRPr>
          </a:p>
        </p:txBody>
      </p:sp>
      <p:sp>
        <p:nvSpPr>
          <p:cNvPr id="190" name="Google Shape;190;p11"/>
          <p:cNvSpPr/>
          <p:nvPr/>
        </p:nvSpPr>
        <p:spPr>
          <a:xfrm>
            <a:off x="11228832" y="6519672"/>
            <a:ext cx="457200" cy="27432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6B7593"/>
              </a:buClr>
              <a:buSzPts val="900"/>
              <a:buFont typeface="Calibri"/>
              <a:buNone/>
            </a:pPr>
            <a:r>
              <a:rPr sz="900"/>
              <a:t>9</a:t>
            </a:r>
            <a:endParaRPr sz="900" b="0" i="0" u="none" strike="noStrike" cap="non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10972800" cy="548640"/>
          </a:xfrm>
          <a:prstGeom prst="rect">
            <a:avLst/>
          </a:prstGeom>
          <a:noFill/>
        </p:spPr>
        <p:txBody>
          <a:bodyPr wrap="none">
            <a:spAutoFit/>
          </a:bodyPr>
          <a:lstStyle/>
          <a:p>
            <a:pPr>
              <a:defRPr sz="2600" b="1">
                <a:solidFill>
                  <a:srgbClr val="FFFFFF"/>
                </a:solidFill>
              </a:defRPr>
            </a:pPr>
            <a:r>
              <a:t>EDA Snapshot — Match &amp; Team Analysis</a:t>
            </a:r>
          </a:p>
        </p:txBody>
      </p:sp>
      <p:sp>
        <p:nvSpPr>
          <p:cNvPr id="3" name="TextBox 2"/>
          <p:cNvSpPr txBox="1"/>
          <p:nvPr/>
        </p:nvSpPr>
        <p:spPr>
          <a:xfrm>
            <a:off x="621792" y="841248"/>
            <a:ext cx="10972800" cy="320040"/>
          </a:xfrm>
          <a:prstGeom prst="rect">
            <a:avLst/>
          </a:prstGeom>
          <a:noFill/>
        </p:spPr>
        <p:txBody>
          <a:bodyPr wrap="none">
            <a:spAutoFit/>
          </a:bodyPr>
          <a:lstStyle/>
          <a:p>
            <a:pPr>
              <a:defRPr sz="1100">
                <a:solidFill>
                  <a:srgbClr val="B4BECD"/>
                </a:solidFill>
              </a:defRPr>
            </a:pPr>
            <a:r>
              <a:t>Based on the current cleaned match-level dataset (1,169 matches)</a:t>
            </a:r>
          </a:p>
        </p:txBody>
      </p:sp>
      <p:pic>
        <p:nvPicPr>
          <p:cNvPr id="4" name="Picture 3" descr="matches_per_season.png"/>
          <p:cNvPicPr>
            <a:picLocks noChangeAspect="1"/>
          </p:cNvPicPr>
          <p:nvPr/>
        </p:nvPicPr>
        <p:blipFill>
          <a:blip r:embed="rId2"/>
          <a:stretch>
            <a:fillRect/>
          </a:stretch>
        </p:blipFill>
        <p:spPr>
          <a:xfrm>
            <a:off x="502920" y="1234440"/>
            <a:ext cx="5577840" cy="2633893"/>
          </a:xfrm>
          <a:prstGeom prst="rect">
            <a:avLst/>
          </a:prstGeom>
        </p:spPr>
      </p:pic>
      <p:pic>
        <p:nvPicPr>
          <p:cNvPr id="5" name="Picture 4" descr="top_teams_wins.png"/>
          <p:cNvPicPr>
            <a:picLocks noChangeAspect="1"/>
          </p:cNvPicPr>
          <p:nvPr/>
        </p:nvPicPr>
        <p:blipFill>
          <a:blip r:embed="rId3"/>
          <a:stretch>
            <a:fillRect/>
          </a:stretch>
        </p:blipFill>
        <p:spPr>
          <a:xfrm>
            <a:off x="6172200" y="1234440"/>
            <a:ext cx="5577840" cy="263537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10972800" cy="548640"/>
          </a:xfrm>
          <a:prstGeom prst="rect">
            <a:avLst/>
          </a:prstGeom>
          <a:noFill/>
        </p:spPr>
        <p:txBody>
          <a:bodyPr wrap="none">
            <a:spAutoFit/>
          </a:bodyPr>
          <a:lstStyle/>
          <a:p>
            <a:pPr>
              <a:defRPr sz="2600" b="1">
                <a:solidFill>
                  <a:srgbClr val="FFFFFF"/>
                </a:solidFill>
              </a:defRPr>
            </a:pPr>
            <a:r>
              <a:t>EDA Snapshot — Toss &amp; Venue Analysis</a:t>
            </a:r>
          </a:p>
        </p:txBody>
      </p:sp>
      <p:sp>
        <p:nvSpPr>
          <p:cNvPr id="3" name="TextBox 2"/>
          <p:cNvSpPr txBox="1"/>
          <p:nvPr/>
        </p:nvSpPr>
        <p:spPr>
          <a:xfrm>
            <a:off x="621792" y="841248"/>
            <a:ext cx="10972800" cy="320040"/>
          </a:xfrm>
          <a:prstGeom prst="rect">
            <a:avLst/>
          </a:prstGeom>
          <a:noFill/>
        </p:spPr>
        <p:txBody>
          <a:bodyPr wrap="none">
            <a:spAutoFit/>
          </a:bodyPr>
          <a:lstStyle/>
          <a:p>
            <a:pPr>
              <a:defRPr sz="1100">
                <a:solidFill>
                  <a:srgbClr val="B4BECD"/>
                </a:solidFill>
              </a:defRPr>
            </a:pPr>
            <a:r>
              <a:t>Descriptive analysis of match context and venue distribution</a:t>
            </a:r>
          </a:p>
        </p:txBody>
      </p:sp>
      <p:pic>
        <p:nvPicPr>
          <p:cNvPr id="4" name="Picture 3" descr="toss_decision.png"/>
          <p:cNvPicPr>
            <a:picLocks noChangeAspect="1"/>
          </p:cNvPicPr>
          <p:nvPr/>
        </p:nvPicPr>
        <p:blipFill>
          <a:blip r:embed="rId2"/>
          <a:stretch>
            <a:fillRect/>
          </a:stretch>
        </p:blipFill>
        <p:spPr>
          <a:xfrm>
            <a:off x="685800" y="1325880"/>
            <a:ext cx="5212080" cy="3683315"/>
          </a:xfrm>
          <a:prstGeom prst="rect">
            <a:avLst/>
          </a:prstGeom>
        </p:spPr>
      </p:pic>
      <p:pic>
        <p:nvPicPr>
          <p:cNvPr id="5" name="Picture 4" descr="top_venues.png"/>
          <p:cNvPicPr>
            <a:picLocks noChangeAspect="1"/>
          </p:cNvPicPr>
          <p:nvPr/>
        </p:nvPicPr>
        <p:blipFill>
          <a:blip r:embed="rId3"/>
          <a:stretch>
            <a:fillRect/>
          </a:stretch>
        </p:blipFill>
        <p:spPr>
          <a:xfrm>
            <a:off x="6035040" y="1234440"/>
            <a:ext cx="5486400" cy="269858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C0F18"/>
        </a:solidFill>
        <a:effectLst/>
      </p:bgPr>
    </p:bg>
    <p:spTree>
      <p:nvGrpSpPr>
        <p:cNvPr id="1" name=""/>
        <p:cNvGrpSpPr/>
        <p:nvPr/>
      </p:nvGrpSpPr>
      <p:grpSpPr>
        <a:xfrm>
          <a:off x="0" y="0"/>
          <a:ext cx="0" cy="0"/>
          <a:chOff x="0" y="0"/>
          <a:chExt cx="0" cy="0"/>
        </a:xfrm>
      </p:grpSpPr>
      <p:sp>
        <p:nvSpPr>
          <p:cNvPr id="2" name="TextBox 1"/>
          <p:cNvSpPr txBox="1"/>
          <p:nvPr/>
        </p:nvSpPr>
        <p:spPr>
          <a:xfrm>
            <a:off x="685800" y="411480"/>
            <a:ext cx="10789920" cy="640080"/>
          </a:xfrm>
          <a:prstGeom prst="rect">
            <a:avLst/>
          </a:prstGeom>
          <a:noFill/>
        </p:spPr>
        <p:txBody>
          <a:bodyPr wrap="none">
            <a:spAutoFit/>
          </a:bodyPr>
          <a:lstStyle/>
          <a:p>
            <a:pPr>
              <a:defRPr sz="2800" b="1">
                <a:solidFill>
                  <a:srgbClr val="FFFFFF"/>
                </a:solidFill>
              </a:defRPr>
            </a:pPr>
            <a:r>
              <a:t>Current Project Focus</a:t>
            </a:r>
          </a:p>
        </p:txBody>
      </p:sp>
      <p:sp>
        <p:nvSpPr>
          <p:cNvPr id="3" name="TextBox 2"/>
          <p:cNvSpPr txBox="1"/>
          <p:nvPr/>
        </p:nvSpPr>
        <p:spPr>
          <a:xfrm>
            <a:off x="713232" y="1024128"/>
            <a:ext cx="10332720" cy="411480"/>
          </a:xfrm>
          <a:prstGeom prst="rect">
            <a:avLst/>
          </a:prstGeom>
          <a:noFill/>
        </p:spPr>
        <p:txBody>
          <a:bodyPr wrap="none">
            <a:spAutoFit/>
          </a:bodyPr>
          <a:lstStyle/>
          <a:p>
            <a:pPr>
              <a:defRPr sz="1500">
                <a:solidFill>
                  <a:srgbClr val="B4BECD"/>
                </a:solidFill>
              </a:defRPr>
            </a:pPr>
            <a:r>
              <a:t>Descriptive analytics of IPL match, player and team performance</a:t>
            </a:r>
          </a:p>
        </p:txBody>
      </p:sp>
      <p:sp>
        <p:nvSpPr>
          <p:cNvPr id="4" name="Rounded Rectangle 3"/>
          <p:cNvSpPr/>
          <p:nvPr/>
        </p:nvSpPr>
        <p:spPr>
          <a:xfrm>
            <a:off x="685800" y="1691640"/>
            <a:ext cx="4800600" cy="1508760"/>
          </a:xfrm>
          <a:prstGeom prst="roundRect">
            <a:avLst/>
          </a:prstGeom>
          <a:solidFill>
            <a:srgbClr val="191F2D"/>
          </a:solidFill>
          <a:ln>
            <a:solidFill>
              <a:srgbClr val="4650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C107"/>
                </a:solidFill>
              </a:defRPr>
            </a:pPr>
            <a:r>
              <a:t>DATA PREPARATION</a:t>
            </a:r>
          </a:p>
          <a:p>
            <a:pPr>
              <a:spcBef>
                <a:spcPts val="800"/>
              </a:spcBef>
              <a:defRPr sz="1200">
                <a:solidFill>
                  <a:srgbClr val="E1E6EE"/>
                </a:solidFill>
              </a:defRPr>
            </a:pPr>
            <a:r>
              <a:t>Cleaning, validation and structuring of IPL ball-by-ball records</a:t>
            </a:r>
          </a:p>
        </p:txBody>
      </p:sp>
      <p:sp>
        <p:nvSpPr>
          <p:cNvPr id="5" name="Rounded Rectangle 4"/>
          <p:cNvSpPr/>
          <p:nvPr/>
        </p:nvSpPr>
        <p:spPr>
          <a:xfrm>
            <a:off x="5989320" y="1691640"/>
            <a:ext cx="4800600" cy="1508760"/>
          </a:xfrm>
          <a:prstGeom prst="roundRect">
            <a:avLst/>
          </a:prstGeom>
          <a:solidFill>
            <a:srgbClr val="191F2D"/>
          </a:solidFill>
          <a:ln>
            <a:solidFill>
              <a:srgbClr val="4650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C107"/>
                </a:solidFill>
              </a:defRPr>
            </a:pPr>
            <a:r>
              <a:t>PERFORMANCE METRICS</a:t>
            </a:r>
          </a:p>
          <a:p>
            <a:pPr>
              <a:spcBef>
                <a:spcPts val="800"/>
              </a:spcBef>
              <a:defRPr sz="1200">
                <a:solidFill>
                  <a:srgbClr val="E1E6EE"/>
                </a:solidFill>
              </a:defRPr>
            </a:pPr>
            <a:r>
              <a:t>Runs, wickets, strike rate, economy and phase-wise analysis</a:t>
            </a:r>
          </a:p>
        </p:txBody>
      </p:sp>
      <p:sp>
        <p:nvSpPr>
          <p:cNvPr id="6" name="Rounded Rectangle 5"/>
          <p:cNvSpPr/>
          <p:nvPr/>
        </p:nvSpPr>
        <p:spPr>
          <a:xfrm>
            <a:off x="685800" y="3703320"/>
            <a:ext cx="4800600" cy="1508760"/>
          </a:xfrm>
          <a:prstGeom prst="roundRect">
            <a:avLst/>
          </a:prstGeom>
          <a:solidFill>
            <a:srgbClr val="191F2D"/>
          </a:solidFill>
          <a:ln>
            <a:solidFill>
              <a:srgbClr val="4650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C107"/>
                </a:solidFill>
              </a:defRPr>
            </a:pPr>
            <a:r>
              <a:t>COMPARATIVE ANALYSIS</a:t>
            </a:r>
          </a:p>
          <a:p>
            <a:pPr>
              <a:spcBef>
                <a:spcPts val="800"/>
              </a:spcBef>
              <a:defRPr sz="1200">
                <a:solidFill>
                  <a:srgbClr val="E1E6EE"/>
                </a:solidFill>
              </a:defRPr>
            </a:pPr>
            <a:r>
              <a:t>Player, team and season-level performance comparisons</a:t>
            </a:r>
          </a:p>
        </p:txBody>
      </p:sp>
      <p:sp>
        <p:nvSpPr>
          <p:cNvPr id="7" name="Rounded Rectangle 6"/>
          <p:cNvSpPr/>
          <p:nvPr/>
        </p:nvSpPr>
        <p:spPr>
          <a:xfrm>
            <a:off x="5989320" y="3703320"/>
            <a:ext cx="4800600" cy="1508760"/>
          </a:xfrm>
          <a:prstGeom prst="roundRect">
            <a:avLst/>
          </a:prstGeom>
          <a:solidFill>
            <a:srgbClr val="191F2D"/>
          </a:solidFill>
          <a:ln>
            <a:solidFill>
              <a:srgbClr val="4650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C107"/>
                </a:solidFill>
              </a:defRPr>
            </a:pPr>
            <a:r>
              <a:t>VISUALIZATION</a:t>
            </a:r>
          </a:p>
          <a:p>
            <a:pPr>
              <a:spcBef>
                <a:spcPts val="800"/>
              </a:spcBef>
              <a:defRPr sz="1200">
                <a:solidFill>
                  <a:srgbClr val="E1E6EE"/>
                </a:solidFill>
              </a:defRPr>
            </a:pPr>
            <a:r>
              <a:t>EDA charts followed by KPI and Power BI dashboard views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21295C"/>
        </a:solidFill>
        <a:effectLst/>
      </p:bgPr>
    </p:bg>
    <p:spTree>
      <p:nvGrpSpPr>
        <p:cNvPr id="1" name="Shape 195"/>
        <p:cNvGrpSpPr/>
        <p:nvPr/>
      </p:nvGrpSpPr>
      <p:grpSpPr>
        <a:xfrm>
          <a:off x="0" y="0"/>
          <a:ext cx="0" cy="0"/>
          <a:chOff x="0" y="0"/>
          <a:chExt cx="0" cy="0"/>
        </a:xfrm>
      </p:grpSpPr>
      <p:sp>
        <p:nvSpPr>
          <p:cNvPr id="196" name="Google Shape;196;p12"/>
          <p:cNvSpPr/>
          <p:nvPr/>
        </p:nvSpPr>
        <p:spPr>
          <a:xfrm>
            <a:off x="10424160" y="-1463040"/>
            <a:ext cx="3108960" cy="3108960"/>
          </a:xfrm>
          <a:prstGeom prst="ellipse">
            <a:avLst/>
          </a:prstGeom>
          <a:solidFill>
            <a:srgbClr val="1C7293">
              <a:alpha val="1803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7" name="Google Shape;197;p12"/>
          <p:cNvSpPr/>
          <p:nvPr/>
        </p:nvSpPr>
        <p:spPr>
          <a:xfrm>
            <a:off x="-1097280" y="5669280"/>
            <a:ext cx="2194560" cy="2194560"/>
          </a:xfrm>
          <a:prstGeom prst="ellipse">
            <a:avLst/>
          </a:prstGeom>
          <a:solidFill>
            <a:srgbClr val="CFE3EE">
              <a:alpha val="1019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8" name="Google Shape;198;p12"/>
          <p:cNvSpPr/>
          <p:nvPr/>
        </p:nvSpPr>
        <p:spPr>
          <a:xfrm>
            <a:off x="914400" y="2468880"/>
            <a:ext cx="10360152" cy="100584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4800"/>
              <a:buFont typeface="Cambria"/>
              <a:buNone/>
            </a:pPr>
            <a:r>
              <a:rPr lang="en-US" sz="4800" b="1" i="0" u="none" strike="noStrike" cap="none">
                <a:solidFill>
                  <a:srgbClr val="FFFFFF"/>
                </a:solidFill>
                <a:latin typeface="Cambria"/>
                <a:ea typeface="Cambria"/>
                <a:cs typeface="Cambria"/>
                <a:sym typeface="Cambria"/>
              </a:rPr>
              <a:t>THANK YOU</a:t>
            </a:r>
            <a:endParaRPr sz="4800" b="0" i="0" u="none" strike="noStrike" cap="none">
              <a:solidFill>
                <a:schemeClr val="dk1"/>
              </a:solidFill>
              <a:latin typeface="Calibri"/>
              <a:ea typeface="Calibri"/>
              <a:cs typeface="Calibri"/>
              <a:sym typeface="Calibri"/>
            </a:endParaRPr>
          </a:p>
        </p:txBody>
      </p:sp>
      <p:sp>
        <p:nvSpPr>
          <p:cNvPr id="199" name="Google Shape;199;p12"/>
          <p:cNvSpPr/>
          <p:nvPr/>
        </p:nvSpPr>
        <p:spPr>
          <a:xfrm>
            <a:off x="914400" y="3520440"/>
            <a:ext cx="10360152" cy="4572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CFE3EE"/>
              </a:buClr>
              <a:buSzPts val="1600"/>
              <a:buFont typeface="Calibri"/>
              <a:buNone/>
            </a:pPr>
            <a:r>
              <a:rPr lang="en-US" sz="1600" b="0" i="1" u="none" strike="noStrike" cap="none">
                <a:solidFill>
                  <a:srgbClr val="CFE3EE"/>
                </a:solidFill>
                <a:latin typeface="Calibri"/>
                <a:ea typeface="Calibri"/>
                <a:cs typeface="Calibri"/>
                <a:sym typeface="Calibri"/>
              </a:rPr>
              <a:t>Questions &amp; suggestions are welcome</a:t>
            </a:r>
            <a:endParaRPr sz="1600" b="0" i="0" u="none" strike="noStrike" cap="none">
              <a:solidFill>
                <a:schemeClr val="dk1"/>
              </a:solidFill>
              <a:latin typeface="Calibri"/>
              <a:ea typeface="Calibri"/>
              <a:cs typeface="Calibri"/>
              <a:sym typeface="Calibri"/>
            </a:endParaRPr>
          </a:p>
        </p:txBody>
      </p:sp>
      <p:cxnSp>
        <p:nvCxnSpPr>
          <p:cNvPr id="200" name="Google Shape;200;p12"/>
          <p:cNvCxnSpPr/>
          <p:nvPr/>
        </p:nvCxnSpPr>
        <p:spPr>
          <a:xfrm>
            <a:off x="5271516" y="4160520"/>
            <a:ext cx="1645920" cy="0"/>
          </a:xfrm>
          <a:prstGeom prst="straightConnector1">
            <a:avLst/>
          </a:prstGeom>
          <a:noFill/>
          <a:ln w="25400" cap="flat" cmpd="sng">
            <a:solidFill>
              <a:srgbClr val="1C7293"/>
            </a:solidFill>
            <a:prstDash val="solid"/>
            <a:round/>
            <a:headEnd type="none" w="sm" len="sm"/>
            <a:tailEnd type="none" w="sm" len="sm"/>
          </a:ln>
        </p:spPr>
      </p:cxnSp>
      <p:sp>
        <p:nvSpPr>
          <p:cNvPr id="201" name="Google Shape;201;p12"/>
          <p:cNvSpPr/>
          <p:nvPr/>
        </p:nvSpPr>
        <p:spPr>
          <a:xfrm>
            <a:off x="915925" y="4559880"/>
            <a:ext cx="10360200" cy="3201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CFE3EE"/>
              </a:buClr>
              <a:buSzPts val="1100"/>
              <a:buFont typeface="Calibri"/>
              <a:buNone/>
            </a:pPr>
            <a:r>
              <a:rPr lang="en-US" sz="1300" b="0" i="0" u="none" strike="noStrike" cap="none">
                <a:solidFill>
                  <a:srgbClr val="CFE3EE"/>
                </a:solidFill>
                <a:latin typeface="Calibri"/>
                <a:ea typeface="Calibri"/>
                <a:cs typeface="Calibri"/>
                <a:sym typeface="Calibri"/>
              </a:rPr>
              <a:t>Lloyd Institute of Engineering &amp; Technology, Greater Noida</a:t>
            </a:r>
            <a:endParaRPr sz="13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1144</Words>
  <Application>Microsoft Office PowerPoint</Application>
  <PresentationFormat>Widescreen</PresentationFormat>
  <Paragraphs>157</Paragraphs>
  <Slides>13</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sumit kr.</cp:lastModifiedBy>
  <cp:revision>1</cp:revision>
  <dcterms:modified xsi:type="dcterms:W3CDTF">2026-09-25T17:44:29Z</dcterms:modified>
</cp:coreProperties>
</file>